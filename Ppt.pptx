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88" r:id="rId3"/>
    <p:sldId id="257" r:id="rId4"/>
    <p:sldId id="260" r:id="rId5"/>
    <p:sldId id="261" r:id="rId6"/>
    <p:sldId id="262" r:id="rId7"/>
    <p:sldId id="268" r:id="rId8"/>
    <p:sldId id="263" r:id="rId9"/>
    <p:sldId id="264" r:id="rId10"/>
    <p:sldId id="265" r:id="rId11"/>
    <p:sldId id="266" r:id="rId12"/>
    <p:sldId id="294" r:id="rId13"/>
    <p:sldId id="267" r:id="rId14"/>
    <p:sldId id="269" r:id="rId15"/>
    <p:sldId id="270" r:id="rId16"/>
    <p:sldId id="272" r:id="rId17"/>
    <p:sldId id="274" r:id="rId18"/>
    <p:sldId id="284" r:id="rId19"/>
    <p:sldId id="276" r:id="rId20"/>
    <p:sldId id="277" r:id="rId21"/>
    <p:sldId id="278" r:id="rId22"/>
    <p:sldId id="279" r:id="rId23"/>
    <p:sldId id="281" r:id="rId24"/>
    <p:sldId id="283" r:id="rId25"/>
    <p:sldId id="285" r:id="rId26"/>
    <p:sldId id="286" r:id="rId27"/>
    <p:sldId id="287" r:id="rId28"/>
    <p:sldId id="301" r:id="rId29"/>
    <p:sldId id="289" r:id="rId30"/>
    <p:sldId id="307" r:id="rId31"/>
    <p:sldId id="290" r:id="rId32"/>
    <p:sldId id="291" r:id="rId33"/>
    <p:sldId id="292" r:id="rId34"/>
    <p:sldId id="293" r:id="rId35"/>
    <p:sldId id="295" r:id="rId36"/>
    <p:sldId id="296" r:id="rId37"/>
    <p:sldId id="297" r:id="rId38"/>
    <p:sldId id="298" r:id="rId39"/>
    <p:sldId id="299" r:id="rId40"/>
    <p:sldId id="300" r:id="rId41"/>
    <p:sldId id="302" r:id="rId42"/>
    <p:sldId id="304" r:id="rId43"/>
    <p:sldId id="303" r:id="rId44"/>
    <p:sldId id="305" r:id="rId45"/>
    <p:sldId id="258" r:id="rId46"/>
    <p:sldId id="30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362" autoAdjust="0"/>
  </p:normalViewPr>
  <p:slideViewPr>
    <p:cSldViewPr snapToGrid="0">
      <p:cViewPr varScale="1">
        <p:scale>
          <a:sx n="47" d="100"/>
          <a:sy n="47" d="100"/>
        </p:scale>
        <p:origin x="14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8T11:28:32.156"/>
    </inkml:context>
    <inkml:brush xml:id="br0">
      <inkml:brushProperty name="width" value="0.35" units="cm"/>
      <inkml:brushProperty name="height" value="0.35" units="cm"/>
      <inkml:brushProperty name="color" value="#FFFFFF"/>
    </inkml:brush>
  </inkml:definitions>
  <inkml:trace contextRef="#ctx0" brushRef="#br0">488 489 24575,'-24'-1'0,"1"0"0,-1-1 0,1-2 0,0 0 0,-38-13 0,54 15 0,0-1 0,1 0 0,0 0 0,-1-1 0,1 0 0,1 0 0,-1 0 0,1-1 0,-1 0 0,1 0 0,1 0 0,-1-1 0,1 0 0,0 1 0,0-2 0,1 1 0,-1 0 0,-3-12 0,4 9 0,1-1 0,0 1 0,0-1 0,1 0 0,0 0 0,1 1 0,0-1 0,1 0 0,0 0 0,0 0 0,1 1 0,0-1 0,4-9 0,1-1 0,-5 11 0,1 0 0,0 0 0,1 0 0,0 0 0,0 0 0,1 1 0,0 0 0,1 0 0,7-9 0,-4 8 0,1-1 0,0 2 0,0-1 0,1 2 0,0-1 0,0 1 0,1 1 0,0 0 0,0 1 0,0 0 0,1 1 0,0 0 0,0 1 0,0 0 0,0 1 0,24 0 0,-33 3 0,1-1 0,-1 1 0,1 0 0,-1 1 0,0-1 0,0 1 0,1 0 0,-1 0 0,0 0 0,0 1 0,-1-1 0,1 1 0,-1 0 0,1 0 0,-1 0 0,0 1 0,0-1 0,0 1 0,-1-1 0,1 1 0,-1 0 0,0 0 0,0 0 0,2 7 0,2 4 0,-1 1 0,-1-1 0,0 1 0,-1 0 0,1 25 0,-3-15 0,-1 0 0,-1 0 0,-2-1 0,-1 1 0,0 0 0,-2-1 0,-1 0 0,-1-1 0,-1 1 0,-1-1 0,-2-1 0,0 0 0,-30 41 0,-23 17 0,57-73 0,-1 0 0,0 0 0,0 0 0,-1-2 0,0 1 0,-17 8 0,10-7 0,-1 1 0,-1-1 0,-1 0 0,1-1 0,-25 5 0,39-11 0,0 0 0,0-1 0,0 1 0,0-1 0,0 0 0,0 0 0,0-1 0,0 0 0,0 0 0,0 0 0,0 0 0,0-1 0,0 1 0,1-1 0,-1 0 0,1-1 0,0 1 0,-1-1 0,1 0 0,0 0 0,0 0 0,-6-8 0,3 2 0,1-1 0,1 1 0,0-1 0,0 0 0,-6-18 0,-4-10 0,8 22 0,1 0 0,1 0 0,1 0 0,0 0 0,1-1 0,-1-23 0,3-104 0,3 88 0,-2 46 0,1 0 0,0-1 0,0 1 0,1 0 0,1 0 0,0 0 0,0 1 0,1-1 0,0 0 0,1 1 0,0 0 0,8-11 0,-9 15 0,0 0 0,0 0 0,1 1 0,-1-1 0,1 1 0,0 0 0,0 1 0,1-1 0,-1 1 0,1 0 0,0 1 0,-1-1 0,1 1 0,0 0 0,1 0 0,-1 1 0,0 0 0,0 0 0,1 0 0,12 1 0,3 3 0,1 0 0,-1 1 0,0 1 0,0 1 0,0 1 0,-1 1 0,28 15 0,-37-17 0,-1 1 0,0 1 0,0-1 0,-1 2 0,0-1 0,0 2 0,15 18 0,-19-20 0,-1 0 0,0 0 0,-1 0 0,0 1 0,0 0 0,-1-1 0,0 1 0,-1 0 0,1 1 0,-2-1 0,2 17 0,-1 10 0,-6 70 0,2-93 0,0 1 0,-1-1 0,0 0 0,-1 0 0,-1 0 0,0-1 0,-1 1 0,-9 15 0,-1-2 0,9-14 0,0 1 0,-1-1 0,0-1 0,-15 16 0,21-24 0,-1-1 0,1 0 0,0 0 0,-1 0 0,0-1 0,1 1 0,-1-1 0,0 1 0,0-1 0,0 0 0,1 0 0,-1 0 0,0 0 0,-1 0 0,1-1 0,0 0 0,0 1 0,0-1 0,0 0 0,0-1 0,0 1 0,0 0 0,0-1 0,-1 0 0,-4-2 0,2 1 17,1-1 0,0 0 0,-1 0 1,1 0-1,1-1 0,-1 1 0,0-1 0,1-1 0,0 1 0,0 0 0,0-1 0,1 0 0,-1 0 0,1 0 0,0-1 0,1 1 0,-1 0 0,1-1 1,-3-10-1,1-2-359,0-1 1,2 0 0,0 0-1,1-35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05:38.313"/>
    </inkml:context>
    <inkml:brush xml:id="br0">
      <inkml:brushProperty name="width" value="0.035" units="cm"/>
      <inkml:brushProperty name="height" value="0.035" units="cm"/>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05:39.081"/>
    </inkml:context>
    <inkml:brush xml:id="br0">
      <inkml:brushProperty name="width" value="0.035" units="cm"/>
      <inkml:brushProperty name="height" value="0.035" units="cm"/>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05:49.519"/>
    </inkml:context>
    <inkml:brush xml:id="br0">
      <inkml:brushProperty name="width" value="0.035" units="cm"/>
      <inkml:brushProperty name="height" value="0.035" units="cm"/>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05:38.313"/>
    </inkml:context>
    <inkml:brush xml:id="br0">
      <inkml:brushProperty name="width" value="0.035" units="cm"/>
      <inkml:brushProperty name="height" value="0.035" units="cm"/>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05:39.081"/>
    </inkml:context>
    <inkml:brush xml:id="br0">
      <inkml:brushProperty name="width" value="0.035" units="cm"/>
      <inkml:brushProperty name="height" value="0.035" units="cm"/>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16:05:49.519"/>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4FEBF-5698-4BD9-A3EC-3195017E22F9}" type="datetimeFigureOut">
              <a:rPr lang="en-IN" smtClean="0"/>
              <a:t>16-05-2026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C4F202-C536-4C1E-B02E-9DAA1E4F52EA}" type="slidenum">
              <a:rPr lang="en-IN" smtClean="0"/>
              <a:t>‹#›</a:t>
            </a:fld>
            <a:endParaRPr lang="en-IN"/>
          </a:p>
        </p:txBody>
      </p:sp>
    </p:spTree>
    <p:extLst>
      <p:ext uri="{BB962C8B-B14F-4D97-AF65-F5344CB8AC3E}">
        <p14:creationId xmlns:p14="http://schemas.microsoft.com/office/powerpoint/2010/main" val="255396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oogle.com/search?q=unique%2C+non-destructive+signature&amp;sca_esv=a2a26c5991e8083d&amp;sxsrf=ANbL-n7sJSvb5Bp-rP-auAwNxC0_-gjEiQ%3A1777440544875&amp;ei=IJfxaeCQNdCF4-EP0KPeiAk&amp;biw=1280&amp;bih=551&amp;ved=2ahUKEwj8yYCKqpKUAxUIn2MGHaW-BdkQgK4QegQIARAD&amp;uact=5&amp;oq=why+is+8.6+micro+meter+spectroscopic+feature+important+for+al2o3&amp;gs_lp=Egxnd3Mtd2l6LXNlcnAiQHdoeSBpcyA4LjYgbWljcm8gbWV0ZXIgc3BlY3Ryb3Njb3BpYyBmZWF0dXJlIGltcG9ydGFudCBmb3IgYWwybzNIqilQgQVYkSVwAXgBkAEAmAHlAaABtR2qAQYwLjIxLjG4AQPIAQD4AQGYAgygAqEPwgIKEAAYRxjWBBiwA8ICBRAAGO8FwgIIEAAYiQUYogTCAgQQIRgKwgIIEAAYgAQYogSYAwCIBgGQBgOSBwQxLjExoAfXZLIHBDAuMTG4B54PwgcEMS4xMcgHFoAIAQ&amp;sclient=gws-wiz-serp&amp;mstk=AUtExfCWvzPcMRFrBlKXuVMnWfR0wilNJXhV_QGRDR3kANqYxS6TuHIJJz9M5K7zjTLOwsDsvXhkwT4yvlubPoWzF6N7mSfqr0bHsTXBFkeLJvHWEJyZZaIhaqEkTs7-ElgC9p2QLl0wWYF9hktOZEF2b8-IlDUli_aM8LwCz0nBc8yUWdoGZuID-orD9FfiGGvXuL0N&amp;csui=3"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2C4F202-C536-4C1E-B02E-9DAA1E4F52EA}" type="slidenum">
              <a:rPr lang="en-IN" smtClean="0"/>
              <a:t>1</a:t>
            </a:fld>
            <a:endParaRPr lang="en-IN"/>
          </a:p>
        </p:txBody>
      </p:sp>
    </p:spTree>
    <p:extLst>
      <p:ext uri="{BB962C8B-B14F-4D97-AF65-F5344CB8AC3E}">
        <p14:creationId xmlns:p14="http://schemas.microsoft.com/office/powerpoint/2010/main" val="3638048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you are varying </a:t>
            </a:r>
            <a:r>
              <a:rPr lang="en-US" dirty="0" err="1"/>
              <a:t>f_sed</a:t>
            </a:r>
            <a:r>
              <a:rPr lang="en-US" dirty="0"/>
              <a:t> in Jupiter and metallicity, </a:t>
            </a:r>
            <a:r>
              <a:rPr lang="en-US" dirty="0" err="1"/>
              <a:t>kzz</a:t>
            </a:r>
            <a:r>
              <a:rPr lang="en-US" dirty="0"/>
              <a:t> in wasp17b for testing</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2</a:t>
            </a:fld>
            <a:endParaRPr lang="en-IN"/>
          </a:p>
        </p:txBody>
      </p:sp>
    </p:spTree>
    <p:extLst>
      <p:ext uri="{BB962C8B-B14F-4D97-AF65-F5344CB8AC3E}">
        <p14:creationId xmlns:p14="http://schemas.microsoft.com/office/powerpoint/2010/main" val="1845188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Clouds are among the most significant sources of uncertainty in the characterization of planetary atmospheres. Their vertical structure, particle size distribution, and condensate abundance directly shape the observed spectra of both Solar System planets and exoplanets, making accurate cloud modeling an essential component of any self-consistent atmospheric retrieval or forward modeling framework.</a:t>
            </a:r>
          </a:p>
          <a:p>
            <a:endParaRPr lang="en-US" dirty="0"/>
          </a:p>
          <a:p>
            <a:endParaRPr lang="en-US" dirty="0"/>
          </a:p>
          <a:p>
            <a:r>
              <a:rPr lang="en-US" dirty="0"/>
              <a:t>In this image constructed from data collected in the near-infrared wavelengths of light, scientists designated blue to indicate sunlight reflected at a wavelength of 2 microns, green to indicate sunlight reflected at 3 microns and red to indicate thermal emission at 5 microns. Saturn's rings reflect sunlight at 2 microns, but not at 3 and 5 microns, so they appear deep blue. Saturn's high altitude haze reflects sunlight at both 2 and 3 microns, but not at 5 microns, and so it appears green to blue-green. The heat emission from the interior of Saturn is only seen at 5 microns wavelength in the spectrometer data, and thus appears red. The dark spots and banded features in the image are clouds and small storms that outline the deeper weather systems and circulation patterns of the planet. They are illuminated from underneath by Saturn's thermal emission, and thus appear in silhouette.</a:t>
            </a:r>
          </a:p>
          <a:p>
            <a:endParaRPr lang="en-IN" dirty="0"/>
          </a:p>
          <a:p>
            <a:endParaRPr lang="en-IN" dirty="0"/>
          </a:p>
          <a:p>
            <a:r>
              <a:rPr lang="en-US" b="1" dirty="0"/>
              <a:t>Transmission spectrum</a:t>
            </a:r>
            <a:r>
              <a:rPr lang="en-US" dirty="0"/>
              <a:t> is the spectrum of a planet’s atmosphere measured </a:t>
            </a:r>
            <a:r>
              <a:rPr lang="en-US" b="1" dirty="0"/>
              <a:t>during transit</a:t>
            </a:r>
            <a:r>
              <a:rPr lang="en-US" dirty="0"/>
              <a:t>, when the planet passes in front of its star and some starlight filters through the planet’s atmospheric limb.</a:t>
            </a:r>
          </a:p>
          <a:p>
            <a:endParaRPr lang="en-US" dirty="0"/>
          </a:p>
          <a:p>
            <a:r>
              <a:rPr lang="en-US" b="1" dirty="0"/>
              <a:t>Albedo</a:t>
            </a:r>
            <a:r>
              <a:rPr lang="en-US" dirty="0"/>
              <a:t> is the </a:t>
            </a:r>
            <a:r>
              <a:rPr lang="en-US" b="1" dirty="0"/>
              <a:t>fraction of incoming stellar light that a planet (or any surface/atmosphere) reflects back into space</a:t>
            </a:r>
            <a:r>
              <a:rPr lang="en-US" dirty="0"/>
              <a:t>.</a:t>
            </a:r>
          </a:p>
          <a:p>
            <a:endParaRPr lang="en-US" dirty="0"/>
          </a:p>
          <a:p>
            <a:r>
              <a:rPr lang="en-IN" b="1" dirty="0"/>
              <a:t>Opacity</a:t>
            </a:r>
            <a:r>
              <a:rPr lang="en-IN" dirty="0"/>
              <a:t> is a measure of how strongly a material (gas, cloud, or atmosphere) </a:t>
            </a:r>
            <a:r>
              <a:rPr lang="en-IN" b="1" dirty="0"/>
              <a:t>absorbs or scatters radiation</a:t>
            </a:r>
            <a:r>
              <a:rPr lang="en-IN" dirty="0"/>
              <a:t>, i.e. how difficult it is for light to pass through it.</a:t>
            </a:r>
          </a:p>
          <a:p>
            <a:r>
              <a:rPr lang="en-US" b="1" dirty="0"/>
              <a:t>higher opacity</a:t>
            </a:r>
            <a:r>
              <a:rPr lang="en-US" dirty="0"/>
              <a:t> = less light transmitted </a:t>
            </a:r>
            <a:r>
              <a:rPr lang="en-US" b="1" dirty="0"/>
              <a:t>lower opacity</a:t>
            </a:r>
            <a:r>
              <a:rPr lang="en-US" dirty="0"/>
              <a:t> = more light transmitted</a:t>
            </a:r>
            <a:endParaRPr lang="ar-AE" b="0" dirty="0"/>
          </a:p>
        </p:txBody>
      </p:sp>
      <p:sp>
        <p:nvSpPr>
          <p:cNvPr id="4" name="Slide Number Placeholder 3"/>
          <p:cNvSpPr>
            <a:spLocks noGrp="1"/>
          </p:cNvSpPr>
          <p:nvPr>
            <p:ph type="sldNum" sz="quarter" idx="5"/>
          </p:nvPr>
        </p:nvSpPr>
        <p:spPr/>
        <p:txBody>
          <a:bodyPr/>
          <a:lstStyle/>
          <a:p>
            <a:fld id="{62C4F202-C536-4C1E-B02E-9DAA1E4F52EA}" type="slidenum">
              <a:rPr lang="en-IN" smtClean="0"/>
              <a:t>3</a:t>
            </a:fld>
            <a:endParaRPr lang="en-IN"/>
          </a:p>
        </p:txBody>
      </p:sp>
    </p:spTree>
    <p:extLst>
      <p:ext uri="{BB962C8B-B14F-4D97-AF65-F5344CB8AC3E}">
        <p14:creationId xmlns:p14="http://schemas.microsoft.com/office/powerpoint/2010/main" val="4223583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If the </a:t>
                </a:r>
                <a:r>
                  <a:rPr lang="en-US" b="1" dirty="0"/>
                  <a:t>surface temperature</a:t>
                </a:r>
                <a:r>
                  <a:rPr lang="en-US" dirty="0"/>
                  <a:t> is greater than the </a:t>
                </a:r>
                <a:r>
                  <a:rPr lang="en-US" b="1" dirty="0"/>
                  <a:t>atmospheric temperature aloft</a:t>
                </a:r>
                <a:r>
                  <a:rPr lang="en-US" dirty="0"/>
                  <a:t>, convection begins. </a:t>
                </a:r>
              </a:p>
              <a:p>
                <a:r>
                  <a:rPr lang="en-US" dirty="0"/>
                  <a:t>A </a:t>
                </a:r>
                <a:r>
                  <a:rPr lang="en-US" b="1" dirty="0"/>
                  <a:t>parcel of air rises</a:t>
                </a:r>
                <a:r>
                  <a:rPr lang="en-US" dirty="0"/>
                  <a:t>, and as it rises it </a:t>
                </a:r>
                <a:r>
                  <a:rPr lang="en-US" b="1" dirty="0"/>
                  <a:t>expands and cools</a:t>
                </a:r>
                <a:r>
                  <a:rPr lang="en-US" dirty="0"/>
                  <a:t>. </a:t>
                </a:r>
              </a:p>
              <a:p>
                <a:r>
                  <a:rPr lang="en-US" dirty="0"/>
                  <a:t>When the air parcel cools to the </a:t>
                </a:r>
                <a:r>
                  <a:rPr lang="en-US" b="1" dirty="0"/>
                  <a:t>dew point temperature</a:t>
                </a:r>
                <a:r>
                  <a:rPr lang="en-US" dirty="0"/>
                  <a:t>, saturation occurs. </a:t>
                </a:r>
              </a:p>
              <a:p>
                <a:r>
                  <a:rPr lang="en-US" b="1" dirty="0"/>
                  <a:t>Dew point temperature</a:t>
                </a:r>
                <a:r>
                  <a:rPr lang="en-US" dirty="0"/>
                  <a:t> is the temperature at which air must be cooled (at constant pressure and moisture content) for saturation to occur. </a:t>
                </a:r>
              </a:p>
              <a:p>
                <a:r>
                  <a:rPr lang="en-US" b="1" dirty="0"/>
                  <a:t>Condensation begins</a:t>
                </a:r>
                <a:r>
                  <a:rPr lang="en-US" dirty="0"/>
                  <a:t> (usually around condensation nuclei), and the </a:t>
                </a:r>
                <a:r>
                  <a:rPr lang="en-US" b="1" dirty="0"/>
                  <a:t>cloud base</a:t>
                </a:r>
                <a:r>
                  <a:rPr lang="en-US" dirty="0"/>
                  <a:t> forms. </a:t>
                </a:r>
              </a:p>
              <a:p>
                <a:r>
                  <a:rPr lang="en-US" dirty="0"/>
                  <a:t>Condensation releases </a:t>
                </a:r>
                <a:r>
                  <a:rPr lang="en-US" b="1" dirty="0"/>
                  <a:t>latent heat</a:t>
                </a:r>
                <a:r>
                  <a:rPr lang="en-US" dirty="0"/>
                  <a:t>, so the </a:t>
                </a:r>
                <a:r>
                  <a:rPr lang="en-US" b="1" dirty="0"/>
                  <a:t>lapse rate changes</a:t>
                </a:r>
                <a:r>
                  <a:rPr lang="en-US" dirty="0"/>
                  <a:t> and differs from the </a:t>
                </a:r>
                <a:r>
                  <a:rPr lang="en-US" b="1" dirty="0"/>
                  <a:t>dry adiabatic lapse rate</a:t>
                </a:r>
                <a:r>
                  <a:rPr lang="en-US" dirty="0"/>
                  <a:t>. </a:t>
                </a:r>
              </a:p>
              <a:p>
                <a:r>
                  <a:rPr lang="en-US" dirty="0"/>
                  <a:t>Inside the cloud, the air is typically </a:t>
                </a:r>
                <a:r>
                  <a:rPr lang="en-US" b="1" dirty="0"/>
                  <a:t>saturated</a:t>
                </a:r>
                <a:r>
                  <a:rPr lang="en-US" dirty="0"/>
                  <a:t> (</a:t>
                </a:r>
                <a14:m>
                  <m:oMath xmlns:m="http://schemas.openxmlformats.org/officeDocument/2006/math">
                    <m:r>
                      <m:rPr>
                        <m:sty m:val="p"/>
                      </m:rPr>
                      <a:rPr lang="en-US" sz="1200" kern="1200">
                        <a:solidFill>
                          <a:schemeClr val="tx1"/>
                        </a:solidFill>
                        <a:latin typeface="Cambria Math" panose="02040503050406030204" pitchFamily="18" charset="0"/>
                        <a:ea typeface="+mn-ea"/>
                        <a:cs typeface="+mn-cs"/>
                      </a:rPr>
                      <m:t>R</m:t>
                    </m:r>
                    <m:r>
                      <m:rPr>
                        <m:sty m:val="p"/>
                      </m:rPr>
                      <a:rPr lang="en-US" sz="1200" i="0" kern="1200">
                        <a:solidFill>
                          <a:schemeClr val="tx1"/>
                        </a:solidFill>
                        <a:latin typeface="Cambria Math" panose="02040503050406030204" pitchFamily="18" charset="0"/>
                        <a:ea typeface="+mn-ea"/>
                        <a:cs typeface="+mn-cs"/>
                      </a:rPr>
                      <m:t>H</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100</m:t>
                    </m:r>
                    <m:r>
                      <a:rPr lang="en-US" sz="1200" i="0" kern="1200">
                        <a:solidFill>
                          <a:schemeClr val="tx1"/>
                        </a:solidFill>
                        <a:latin typeface="Cambria Math" panose="02040503050406030204" pitchFamily="18" charset="0"/>
                        <a:ea typeface="+mn-ea"/>
                        <a:cs typeface="+mn-cs"/>
                      </a:rPr>
                      <m:t>%</m:t>
                    </m:r>
                  </m:oMath>
                </a14:m>
                <a:r>
                  <a:rPr lang="en-US" dirty="0"/>
                  <a:t>). </a:t>
                </a:r>
              </a:p>
              <a:p>
                <a:r>
                  <a:rPr lang="en-US" dirty="0"/>
                  <a:t>A cloud remains active only if </a:t>
                </a:r>
                <a:r>
                  <a:rPr lang="en-US" b="1" dirty="0"/>
                  <a:t>air continues to move upward through it</a:t>
                </a:r>
                <a:r>
                  <a:rPr lang="en-US" dirty="0"/>
                  <a:t>, i.e. the </a:t>
                </a:r>
                <a:r>
                  <a:rPr lang="en-US" b="1" dirty="0"/>
                  <a:t>convection cycle</a:t>
                </a:r>
                <a:r>
                  <a:rPr lang="en-US" dirty="0"/>
                  <a:t> continues. </a:t>
                </a:r>
              </a:p>
              <a:p>
                <a:r>
                  <a:rPr lang="en-IN" dirty="0"/>
                  <a:t>   If the parcel rises further and the temperature drops more, then:</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𝑣</m:t>
                          </m:r>
                        </m:sub>
                      </m:sSub>
                      <m:r>
                        <a:rPr lang="ar-AE" sz="1200" i="0" kern="1200">
                          <a:solidFill>
                            <a:schemeClr val="tx1"/>
                          </a:solidFill>
                          <a:latin typeface="Cambria Math" panose="02040503050406030204" pitchFamily="18" charset="0"/>
                          <a:ea typeface="+mn-ea"/>
                          <a:cs typeface="+mn-cs"/>
                        </a:rPr>
                        <m:t>&gt;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𝑠</m:t>
                          </m:r>
                        </m:sub>
                      </m:sSub>
                    </m:oMath>
                  </m:oMathPara>
                </a14:m>
                <a:endParaRPr lang="ar-AE" dirty="0"/>
              </a:p>
              <a:p>
                <a:r>
                  <a:rPr lang="en-IN" dirty="0"/>
                  <a:t>This means the atmosphere contains </a:t>
                </a:r>
                <a:r>
                  <a:rPr lang="en-IN" b="1" dirty="0"/>
                  <a:t>more vapor than can be supported in equilibrium</a:t>
                </a:r>
                <a:r>
                  <a:rPr lang="en-IN" dirty="0"/>
                  <a:t>.</a:t>
                </a:r>
              </a:p>
              <a:p>
                <a:r>
                  <a:rPr lang="en-IN" dirty="0"/>
                  <a:t>The excess vapor condenses into cloud particles.</a:t>
                </a:r>
              </a:p>
              <a:p>
                <a:r>
                  <a:rPr lang="en-IN" dirty="0"/>
                  <a:t>Cloud formation stops when temp of atmosphere becomes greater than the cloud’s inside temperature.</a:t>
                </a:r>
              </a:p>
              <a:p>
                <a:r>
                  <a:rPr lang="en-US" dirty="0"/>
                  <a:t>Lapse rate </a:t>
                </a:r>
                <a:r>
                  <a:rPr lang="en-US" dirty="0" err="1"/>
                  <a:t>rate</a:t>
                </a:r>
                <a:r>
                  <a:rPr lang="en-US" dirty="0"/>
                  <a:t> of change of T </a:t>
                </a:r>
                <a:r>
                  <a:rPr lang="en-US" dirty="0" err="1"/>
                  <a:t>wrt</a:t>
                </a:r>
                <a:r>
                  <a:rPr lang="en-US" dirty="0"/>
                  <a:t> Z, </a:t>
                </a:r>
                <a:r>
                  <a:rPr lang="en-US" dirty="0" err="1"/>
                  <a:t>adiab</a:t>
                </a:r>
                <a:r>
                  <a:rPr lang="en-US" dirty="0"/>
                  <a:t> lapse rate = g/cp, mixing length theory is first order closure of turbulence closure problem</a:t>
                </a:r>
                <a:endParaRPr lang="en-IN" dirty="0"/>
              </a:p>
            </p:txBody>
          </p:sp>
        </mc:Choice>
        <mc:Fallback xmlns="">
          <p:sp>
            <p:nvSpPr>
              <p:cNvPr id="3" name="Notes Placeholder 2"/>
              <p:cNvSpPr>
                <a:spLocks noGrp="1"/>
              </p:cNvSpPr>
              <p:nvPr>
                <p:ph type="body" idx="1"/>
              </p:nvPr>
            </p:nvSpPr>
            <p:spPr/>
            <p:txBody>
              <a:bodyPr/>
              <a:lstStyle/>
              <a:p>
                <a:r>
                  <a:rPr lang="en-US" dirty="0"/>
                  <a:t>If the </a:t>
                </a:r>
                <a:r>
                  <a:rPr lang="en-US" b="1" dirty="0"/>
                  <a:t>surface temperature</a:t>
                </a:r>
                <a:r>
                  <a:rPr lang="en-US" dirty="0"/>
                  <a:t> is greater than the </a:t>
                </a:r>
                <a:r>
                  <a:rPr lang="en-US" b="1" dirty="0"/>
                  <a:t>atmospheric temperature aloft</a:t>
                </a:r>
                <a:r>
                  <a:rPr lang="en-US" dirty="0"/>
                  <a:t>, convection begins. </a:t>
                </a:r>
              </a:p>
              <a:p>
                <a:r>
                  <a:rPr lang="en-US" dirty="0"/>
                  <a:t>A </a:t>
                </a:r>
                <a:r>
                  <a:rPr lang="en-US" b="1" dirty="0"/>
                  <a:t>parcel of air rises</a:t>
                </a:r>
                <a:r>
                  <a:rPr lang="en-US" dirty="0"/>
                  <a:t>, and as it rises it </a:t>
                </a:r>
                <a:r>
                  <a:rPr lang="en-US" b="1" dirty="0"/>
                  <a:t>expands and cools</a:t>
                </a:r>
                <a:r>
                  <a:rPr lang="en-US" dirty="0"/>
                  <a:t>. </a:t>
                </a:r>
              </a:p>
              <a:p>
                <a:r>
                  <a:rPr lang="en-US" dirty="0"/>
                  <a:t>When the air parcel cools to the </a:t>
                </a:r>
                <a:r>
                  <a:rPr lang="en-US" b="1" dirty="0"/>
                  <a:t>dew point temperature</a:t>
                </a:r>
                <a:r>
                  <a:rPr lang="en-US" dirty="0"/>
                  <a:t>, saturation occurs. </a:t>
                </a:r>
              </a:p>
              <a:p>
                <a:r>
                  <a:rPr lang="en-US" b="1" dirty="0"/>
                  <a:t>Dew point temperature</a:t>
                </a:r>
                <a:r>
                  <a:rPr lang="en-US" dirty="0"/>
                  <a:t> is the temperature at which air must be cooled (at constant pressure and moisture content) for saturation to occur. </a:t>
                </a:r>
              </a:p>
              <a:p>
                <a:r>
                  <a:rPr lang="en-US" b="1" dirty="0"/>
                  <a:t>Condensation begins</a:t>
                </a:r>
                <a:r>
                  <a:rPr lang="en-US" dirty="0"/>
                  <a:t> (usually around condensation nuclei), and the </a:t>
                </a:r>
                <a:r>
                  <a:rPr lang="en-US" b="1" dirty="0"/>
                  <a:t>cloud base</a:t>
                </a:r>
                <a:r>
                  <a:rPr lang="en-US" dirty="0"/>
                  <a:t> forms. </a:t>
                </a:r>
              </a:p>
              <a:p>
                <a:r>
                  <a:rPr lang="en-US" dirty="0"/>
                  <a:t>Condensation releases </a:t>
                </a:r>
                <a:r>
                  <a:rPr lang="en-US" b="1" dirty="0"/>
                  <a:t>latent heat</a:t>
                </a:r>
                <a:r>
                  <a:rPr lang="en-US" dirty="0"/>
                  <a:t>, so the </a:t>
                </a:r>
                <a:r>
                  <a:rPr lang="en-US" b="1" dirty="0"/>
                  <a:t>lapse rate changes</a:t>
                </a:r>
                <a:r>
                  <a:rPr lang="en-US" dirty="0"/>
                  <a:t> and differs from the </a:t>
                </a:r>
                <a:r>
                  <a:rPr lang="en-US" b="1" dirty="0"/>
                  <a:t>dry adiabatic lapse rate</a:t>
                </a:r>
                <a:r>
                  <a:rPr lang="en-US" dirty="0"/>
                  <a:t>. </a:t>
                </a:r>
              </a:p>
              <a:p>
                <a:r>
                  <a:rPr lang="en-US" dirty="0"/>
                  <a:t>Inside the cloud, the air is typically </a:t>
                </a:r>
                <a:r>
                  <a:rPr lang="en-US" b="1" dirty="0"/>
                  <a:t>saturated</a:t>
                </a:r>
                <a:r>
                  <a:rPr lang="en-US" dirty="0"/>
                  <a:t> (</a:t>
                </a:r>
                <a:r>
                  <a:rPr lang="en-US" sz="1200" i="0" kern="1200">
                    <a:solidFill>
                      <a:schemeClr val="tx1"/>
                    </a:solidFill>
                    <a:latin typeface="+mn-lt"/>
                    <a:ea typeface="+mn-ea"/>
                    <a:cs typeface="+mn-cs"/>
                  </a:rPr>
                  <a:t>RH=100%</a:t>
                </a:r>
                <a:r>
                  <a:rPr lang="en-US" dirty="0"/>
                  <a:t>). </a:t>
                </a:r>
              </a:p>
              <a:p>
                <a:r>
                  <a:rPr lang="en-US" dirty="0"/>
                  <a:t>A cloud remains active only if </a:t>
                </a:r>
                <a:r>
                  <a:rPr lang="en-US" b="1" dirty="0"/>
                  <a:t>air continues to move upward through it</a:t>
                </a:r>
                <a:r>
                  <a:rPr lang="en-US" dirty="0"/>
                  <a:t>, i.e. the </a:t>
                </a:r>
                <a:r>
                  <a:rPr lang="en-US" b="1" dirty="0"/>
                  <a:t>convection cycle</a:t>
                </a:r>
                <a:r>
                  <a:rPr lang="en-US" dirty="0"/>
                  <a:t> continues. </a:t>
                </a:r>
              </a:p>
              <a:p>
                <a:r>
                  <a:rPr lang="en-IN" dirty="0"/>
                  <a:t>   </a:t>
                </a:r>
              </a:p>
              <a:p>
                <a:endParaRPr lang="en-IN" dirty="0"/>
              </a:p>
              <a:p>
                <a:r>
                  <a:rPr lang="en-IN" dirty="0"/>
                  <a:t>If the parcel rises further and the temperature drops more, then:</a:t>
                </a:r>
              </a:p>
              <a:p>
                <a:r>
                  <a:rPr lang="ar-AE" sz="1200" i="0" kern="1200">
                    <a:solidFill>
                      <a:schemeClr val="tx1"/>
                    </a:solidFill>
                    <a:latin typeface="+mn-lt"/>
                    <a:ea typeface="+mn-ea"/>
                    <a:cs typeface="+mn-cs"/>
                  </a:rPr>
                  <a:t>𝑞_𝑣&gt;𝑞_𝑠</a:t>
                </a:r>
                <a:endParaRPr lang="ar-AE" dirty="0"/>
              </a:p>
              <a:p>
                <a:r>
                  <a:rPr lang="en-IN" dirty="0"/>
                  <a:t>This means the atmosphere contains </a:t>
                </a:r>
                <a:r>
                  <a:rPr lang="en-IN" b="1" dirty="0"/>
                  <a:t>more vapor than can be supported in equilibrium</a:t>
                </a:r>
                <a:r>
                  <a:rPr lang="en-IN" dirty="0"/>
                  <a:t>.</a:t>
                </a:r>
              </a:p>
              <a:p>
                <a:r>
                  <a:rPr lang="en-IN" dirty="0"/>
                  <a:t>The excess vapor condenses into cloud particles.</a:t>
                </a:r>
              </a:p>
              <a:p>
                <a:r>
                  <a:rPr lang="en-IN" dirty="0"/>
                  <a:t>The condensed amount is the </a:t>
                </a:r>
                <a:r>
                  <a:rPr lang="en-IN" b="1" dirty="0"/>
                  <a:t>condensate mixing ratio</a:t>
                </a:r>
                <a:r>
                  <a:rPr lang="en-IN" dirty="0"/>
                  <a:t>:</a:t>
                </a:r>
              </a:p>
              <a:p>
                <a:r>
                  <a:rPr lang="ar-AE" sz="1200" i="0" kern="1200">
                    <a:solidFill>
                      <a:schemeClr val="tx1"/>
                    </a:solidFill>
                    <a:latin typeface="+mn-lt"/>
                    <a:ea typeface="+mn-ea"/>
                    <a:cs typeface="+mn-cs"/>
                  </a:rPr>
                  <a:t>𝑞_𝑐</a:t>
                </a:r>
                <a:endParaRPr lang="ar-AE" dirty="0"/>
              </a:p>
              <a:p>
                <a:endParaRPr lang="en-IN" dirty="0"/>
              </a:p>
            </p:txBody>
          </p:sp>
        </mc:Fallback>
      </mc:AlternateContent>
      <p:sp>
        <p:nvSpPr>
          <p:cNvPr id="4" name="Slide Number Placeholder 3"/>
          <p:cNvSpPr>
            <a:spLocks noGrp="1"/>
          </p:cNvSpPr>
          <p:nvPr>
            <p:ph type="sldNum" sz="quarter" idx="5"/>
          </p:nvPr>
        </p:nvSpPr>
        <p:spPr/>
        <p:txBody>
          <a:bodyPr/>
          <a:lstStyle/>
          <a:p>
            <a:fld id="{62C4F202-C536-4C1E-B02E-9DAA1E4F52EA}" type="slidenum">
              <a:rPr lang="en-IN" smtClean="0"/>
              <a:t>4</a:t>
            </a:fld>
            <a:endParaRPr lang="en-IN"/>
          </a:p>
        </p:txBody>
      </p:sp>
    </p:spTree>
    <p:extLst>
      <p:ext uri="{BB962C8B-B14F-4D97-AF65-F5344CB8AC3E}">
        <p14:creationId xmlns:p14="http://schemas.microsoft.com/office/powerpoint/2010/main" val="1440350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that I made/ wrote. Virga is a published model in AM frame</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5</a:t>
            </a:fld>
            <a:endParaRPr lang="en-IN"/>
          </a:p>
        </p:txBody>
      </p:sp>
    </p:spTree>
    <p:extLst>
      <p:ext uri="{BB962C8B-B14F-4D97-AF65-F5344CB8AC3E}">
        <p14:creationId xmlns:p14="http://schemas.microsoft.com/office/powerpoint/2010/main" val="2597084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It is called </a:t>
                </a:r>
                <a:r>
                  <a:rPr lang="en-US" b="1" dirty="0"/>
                  <a:t>RK23</a:t>
                </a:r>
                <a:r>
                  <a:rPr lang="en-US" dirty="0"/>
                  <a:t> because:</a:t>
                </a:r>
              </a:p>
              <a:p>
                <a:r>
                  <a:rPr lang="en-US" dirty="0"/>
                  <a:t>it computes: </a:t>
                </a:r>
              </a:p>
              <a:p>
                <a:pPr lvl="1"/>
                <a:r>
                  <a:rPr lang="en-US" dirty="0"/>
                  <a:t>a </a:t>
                </a:r>
                <a:r>
                  <a:rPr lang="en-US" b="1" dirty="0"/>
                  <a:t>3rd-order solution</a:t>
                </a:r>
                <a:r>
                  <a:rPr lang="en-US" dirty="0"/>
                  <a:t> </a:t>
                </a:r>
              </a:p>
              <a:p>
                <a:pPr lvl="1"/>
                <a:r>
                  <a:rPr lang="en-US" dirty="0"/>
                  <a:t>and an embedded </a:t>
                </a:r>
                <a:r>
                  <a:rPr lang="en-US" b="1" dirty="0"/>
                  <a:t>2nd-order solution</a:t>
                </a:r>
                <a:r>
                  <a:rPr lang="en-US" dirty="0"/>
                  <a:t> </a:t>
                </a:r>
              </a:p>
              <a:p>
                <a:r>
                  <a:rPr lang="en-US" dirty="0"/>
                  <a:t>the difference between them is used to estimate the </a:t>
                </a:r>
                <a:r>
                  <a:rPr lang="en-US" b="1" dirty="0"/>
                  <a:t>error</a:t>
                </a:r>
                <a:r>
                  <a:rPr lang="en-US" dirty="0"/>
                  <a:t> </a:t>
                </a:r>
              </a:p>
              <a:p>
                <a:r>
                  <a:rPr lang="en-US" dirty="0"/>
                  <a:t>that error is then used to </a:t>
                </a:r>
                <a:r>
                  <a:rPr lang="en-US" b="1" dirty="0"/>
                  <a:t>adapt the step size automatically</a:t>
                </a:r>
                <a:endParaRPr lang="en-US" dirty="0"/>
              </a:p>
              <a:p>
                <a:r>
                  <a:rPr lang="en-IN" dirty="0" err="1"/>
                  <a:t>Brentq</a:t>
                </a:r>
                <a:r>
                  <a:rPr lang="en-IN" dirty="0"/>
                  <a:t> method uses bisection, secant method and inverse quadratic interpolation, </a:t>
                </a:r>
                <a:r>
                  <a:rPr lang="en-US" b="1" dirty="0"/>
                  <a:t>guaranteed convergence</a:t>
                </a:r>
                <a:r>
                  <a:rPr lang="en-US" dirty="0"/>
                  <a:t> (for continuous bracketed roots) </a:t>
                </a:r>
                <a:r>
                  <a:rPr lang="en-US" b="1" dirty="0"/>
                  <a:t>good speed</a:t>
                </a:r>
                <a:r>
                  <a:rPr lang="en-US" dirty="0"/>
                  <a:t> </a:t>
                </a:r>
                <a:r>
                  <a:rPr lang="en-US" b="1" dirty="0"/>
                  <a:t>high robustness</a:t>
                </a:r>
              </a:p>
              <a:p>
                <a:endParaRPr lang="en-US" b="1" dirty="0"/>
              </a:p>
              <a:p>
                <a:r>
                  <a:rPr lang="en-IN" dirty="0"/>
                  <a:t>To use </a:t>
                </a:r>
                <a:r>
                  <a:rPr lang="en-IN" sz="1200" kern="1200" dirty="0" err="1">
                    <a:solidFill>
                      <a:schemeClr val="tx1"/>
                    </a:solidFill>
                    <a:latin typeface="+mn-lt"/>
                    <a:ea typeface="+mn-ea"/>
                    <a:cs typeface="+mn-cs"/>
                  </a:rPr>
                  <a:t>brentq</a:t>
                </a:r>
                <a:r>
                  <a:rPr lang="en-IN" dirty="0"/>
                  <a:t>, you need:</a:t>
                </a:r>
              </a:p>
              <a:p>
                <a:pPr/>
                <a14:m>
                  <m:oMathPara xmlns:m="http://schemas.openxmlformats.org/officeDocument/2006/math">
                    <m:oMathParaPr>
                      <m:jc m:val="centerGroup"/>
                    </m:oMathParaPr>
                    <m:oMath xmlns:m="http://schemas.openxmlformats.org/officeDocument/2006/math">
                      <m:r>
                        <a:rPr lang="en-IN" sz="1200" i="1" kern="1200">
                          <a:solidFill>
                            <a:schemeClr val="tx1"/>
                          </a:solidFill>
                          <a:latin typeface="Cambria Math" panose="02040503050406030204" pitchFamily="18" charset="0"/>
                          <a:ea typeface="+mn-ea"/>
                          <a:cs typeface="+mn-cs"/>
                        </a:rPr>
                        <m:t>𝑓</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𝑎</m:t>
                          </m:r>
                        </m:e>
                      </m:d>
                      <m:r>
                        <m:rPr>
                          <m:nor/>
                        </m:rPr>
                        <a:rPr lang="ar-AE" sz="1200" b="0" i="1" kern="1200">
                          <a:solidFill>
                            <a:schemeClr val="tx1"/>
                          </a:solidFill>
                          <a:latin typeface="+mn-lt"/>
                          <a:ea typeface="+mn-ea"/>
                          <a:cs typeface="+mn-cs"/>
                        </a:rPr>
                        <m:t> </m:t>
                      </m:r>
                      <m:r>
                        <a:rPr lang="ar-AE" sz="1200" b="0" i="1" kern="1200">
                          <a:solidFill>
                            <a:schemeClr val="tx1"/>
                          </a:solidFill>
                          <a:latin typeface="Cambria Math" panose="02040503050406030204" pitchFamily="18" charset="0"/>
                          <a:ea typeface="+mn-ea"/>
                          <a:cs typeface="+mn-cs"/>
                        </a:rPr>
                        <m:t>𝑓</m:t>
                      </m:r>
                      <m:d>
                        <m:dPr>
                          <m:ctrlPr>
                            <a:rPr lang="ar-AE" sz="1200" b="0" i="1" kern="1200">
                              <a:solidFill>
                                <a:schemeClr val="tx1"/>
                              </a:solidFill>
                              <a:latin typeface="Cambria Math" panose="02040503050406030204" pitchFamily="18" charset="0"/>
                              <a:ea typeface="+mn-ea"/>
                              <a:cs typeface="+mn-cs"/>
                            </a:rPr>
                          </m:ctrlPr>
                        </m:dPr>
                        <m:e>
                          <m:r>
                            <a:rPr lang="ar-AE" sz="1200" b="0" i="1" kern="1200">
                              <a:solidFill>
                                <a:schemeClr val="tx1"/>
                              </a:solidFill>
                              <a:latin typeface="Cambria Math" panose="02040503050406030204" pitchFamily="18" charset="0"/>
                              <a:ea typeface="+mn-ea"/>
                              <a:cs typeface="+mn-cs"/>
                            </a:rPr>
                            <m:t>𝑏</m:t>
                          </m:r>
                        </m:e>
                      </m:d>
                      <m:r>
                        <a:rPr lang="ar-AE" sz="1200" b="0" i="0" kern="1200">
                          <a:solidFill>
                            <a:schemeClr val="tx1"/>
                          </a:solidFill>
                          <a:latin typeface="Cambria Math" panose="02040503050406030204" pitchFamily="18" charset="0"/>
                          <a:ea typeface="+mn-ea"/>
                          <a:cs typeface="+mn-cs"/>
                        </a:rPr>
                        <m:t>&lt;</m:t>
                      </m:r>
                      <m:r>
                        <a:rPr lang="ar-AE" sz="1200" b="0" i="0" kern="1200">
                          <a:solidFill>
                            <a:schemeClr val="tx1"/>
                          </a:solidFill>
                          <a:latin typeface="Cambria Math" panose="02040503050406030204" pitchFamily="18" charset="0"/>
                          <a:ea typeface="+mn-ea"/>
                          <a:cs typeface="+mn-cs"/>
                        </a:rPr>
                        <m:t>0</m:t>
                      </m:r>
                    </m:oMath>
                  </m:oMathPara>
                </a14:m>
                <a:endParaRPr lang="ar-AE" b="0" dirty="0"/>
              </a:p>
              <a:p>
                <a:r>
                  <a:rPr lang="en-IN" dirty="0"/>
                  <a:t>This means:</a:t>
                </a:r>
              </a:p>
              <a:p>
                <a:r>
                  <a:rPr lang="en-IN" dirty="0"/>
                  <a:t>one endpoint is positive </a:t>
                </a:r>
              </a:p>
              <a:p>
                <a:r>
                  <a:rPr lang="en-IN" dirty="0"/>
                  <a:t>the other is negative </a:t>
                </a:r>
              </a:p>
              <a:p>
                <a:r>
                  <a:rPr lang="en-IN" dirty="0"/>
                  <a:t>So the root is guaranteed inside the interval.</a:t>
                </a:r>
              </a:p>
              <a:p>
                <a:endParaRPr lang="en-IN" dirty="0"/>
              </a:p>
              <a:p>
                <a:r>
                  <a:rPr lang="en-US" dirty="0"/>
                  <a:t>The </a:t>
                </a:r>
                <a:r>
                  <a:rPr lang="en-US" b="1" dirty="0"/>
                  <a:t>free molecular regime</a:t>
                </a:r>
                <a:r>
                  <a:rPr lang="en-US" dirty="0"/>
                  <a:t> is the gas-flow regime where the </a:t>
                </a:r>
                <a:r>
                  <a:rPr lang="en-US" b="1" dirty="0"/>
                  <a:t>mean free path of gas molecules is much larger than the particle size</a:t>
                </a:r>
                <a:r>
                  <a:rPr lang="en-US" dirty="0"/>
                  <a:t>, so the particle experiences drag from </a:t>
                </a:r>
                <a:r>
                  <a:rPr lang="en-US" b="1" dirty="0"/>
                  <a:t>individual molecule–particle collisions</a:t>
                </a:r>
                <a:r>
                  <a:rPr lang="en-US" dirty="0"/>
                  <a:t> rather than from a continuous fluid.</a:t>
                </a:r>
              </a:p>
              <a:p>
                <a:endParaRPr lang="en-US" dirty="0"/>
              </a:p>
              <a:p>
                <a:r>
                  <a:rPr lang="en-US" dirty="0"/>
                  <a:t>The free molecular regime is common when:</a:t>
                </a:r>
              </a:p>
              <a:p>
                <a:r>
                  <a:rPr lang="en-US" b="1" dirty="0"/>
                  <a:t>pressure is low</a:t>
                </a:r>
                <a:r>
                  <a:rPr lang="en-US" dirty="0"/>
                  <a:t> </a:t>
                </a:r>
              </a:p>
              <a:p>
                <a:r>
                  <a:rPr lang="en-US" dirty="0"/>
                  <a:t>gas density is low </a:t>
                </a:r>
              </a:p>
              <a:p>
                <a:r>
                  <a:rPr lang="en-US" dirty="0"/>
                  <a:t>the mean free path is large </a:t>
                </a:r>
              </a:p>
              <a:p>
                <a:r>
                  <a:rPr lang="en-US" dirty="0"/>
                  <a:t>particles are small</a:t>
                </a:r>
              </a:p>
              <a:p>
                <a:r>
                  <a:rPr lang="en-US" dirty="0"/>
                  <a:t>The </a:t>
                </a:r>
                <a:r>
                  <a:rPr lang="en-US" b="1" dirty="0"/>
                  <a:t>continuum regime</a:t>
                </a:r>
                <a:r>
                  <a:rPr lang="en-US" dirty="0"/>
                  <a:t> is the gas-flow regime where the </a:t>
                </a:r>
                <a:r>
                  <a:rPr lang="en-US" b="1" dirty="0"/>
                  <a:t>mean free path of gas molecules is much smaller than the particle size</a:t>
                </a:r>
                <a:r>
                  <a:rPr lang="en-US" dirty="0"/>
                  <a:t>, so the gas behaves like a </a:t>
                </a:r>
                <a:r>
                  <a:rPr lang="en-US" b="1" dirty="0"/>
                  <a:t>continuous fluid</a:t>
                </a:r>
                <a:r>
                  <a:rPr lang="en-US" dirty="0"/>
                  <a:t> around the particle. In the continuum regime:</a:t>
                </a:r>
              </a:p>
              <a:p>
                <a:r>
                  <a:rPr lang="en-US" dirty="0"/>
                  <a:t>gas molecules collide with each other </a:t>
                </a:r>
                <a:r>
                  <a:rPr lang="en-US" b="1" dirty="0"/>
                  <a:t>many times</a:t>
                </a:r>
                <a:r>
                  <a:rPr lang="en-US" dirty="0"/>
                  <a:t> near the particle </a:t>
                </a:r>
              </a:p>
              <a:p>
                <a:r>
                  <a:rPr lang="en-US" dirty="0"/>
                  <a:t>the gas acts like a </a:t>
                </a:r>
                <a:r>
                  <a:rPr lang="en-US" b="1" dirty="0"/>
                  <a:t>smooth continuous medium</a:t>
                </a:r>
                <a:r>
                  <a:rPr lang="en-US" dirty="0"/>
                  <a:t> </a:t>
                </a:r>
              </a:p>
              <a:p>
                <a:r>
                  <a:rPr lang="en-US" dirty="0"/>
                  <a:t>the particle feels </a:t>
                </a:r>
                <a:r>
                  <a:rPr lang="en-US" b="1" dirty="0"/>
                  <a:t>fluid drag</a:t>
                </a:r>
                <a:r>
                  <a:rPr lang="en-US" dirty="0"/>
                  <a:t> </a:t>
                </a:r>
              </a:p>
              <a:p>
                <a:r>
                  <a:rPr lang="en-US" dirty="0"/>
                  <a:t>classical viscous drag laws (like </a:t>
                </a:r>
                <a:r>
                  <a:rPr lang="en-US" b="1" dirty="0"/>
                  <a:t>Stokes drag</a:t>
                </a:r>
                <a:r>
                  <a:rPr lang="en-US" dirty="0"/>
                  <a:t>) can be used</a:t>
                </a:r>
              </a:p>
              <a:p>
                <a:endParaRPr lang="en-IN" dirty="0"/>
              </a:p>
            </p:txBody>
          </p:sp>
        </mc:Choice>
        <mc:Fallback xmlns="">
          <p:sp>
            <p:nvSpPr>
              <p:cNvPr id="3" name="Notes Placeholder 2"/>
              <p:cNvSpPr>
                <a:spLocks noGrp="1"/>
              </p:cNvSpPr>
              <p:nvPr>
                <p:ph type="body" idx="1"/>
              </p:nvPr>
            </p:nvSpPr>
            <p:spPr/>
            <p:txBody>
              <a:bodyPr/>
              <a:lstStyle/>
              <a:p>
                <a:r>
                  <a:rPr lang="en-US" dirty="0"/>
                  <a:t>It is called </a:t>
                </a:r>
                <a:r>
                  <a:rPr lang="en-US" b="1" dirty="0"/>
                  <a:t>RK23</a:t>
                </a:r>
                <a:r>
                  <a:rPr lang="en-US" dirty="0"/>
                  <a:t> because:</a:t>
                </a:r>
              </a:p>
              <a:p>
                <a:r>
                  <a:rPr lang="en-US" dirty="0"/>
                  <a:t>it computes: </a:t>
                </a:r>
              </a:p>
              <a:p>
                <a:pPr lvl="1"/>
                <a:r>
                  <a:rPr lang="en-US" dirty="0"/>
                  <a:t>a </a:t>
                </a:r>
                <a:r>
                  <a:rPr lang="en-US" b="1" dirty="0"/>
                  <a:t>2nd-order solution</a:t>
                </a:r>
                <a:r>
                  <a:rPr lang="en-US" dirty="0"/>
                  <a:t> </a:t>
                </a:r>
              </a:p>
              <a:p>
                <a:pPr lvl="1"/>
                <a:r>
                  <a:rPr lang="en-US" dirty="0"/>
                  <a:t>and an embedded </a:t>
                </a:r>
                <a:r>
                  <a:rPr lang="en-US" b="1" dirty="0"/>
                  <a:t>3rd-order solution</a:t>
                </a:r>
                <a:r>
                  <a:rPr lang="en-US" dirty="0"/>
                  <a:t> </a:t>
                </a:r>
              </a:p>
              <a:p>
                <a:r>
                  <a:rPr lang="en-US" dirty="0"/>
                  <a:t>the difference between them is used to estimate the </a:t>
                </a:r>
                <a:r>
                  <a:rPr lang="en-US" b="1" dirty="0"/>
                  <a:t>error</a:t>
                </a:r>
                <a:r>
                  <a:rPr lang="en-US" dirty="0"/>
                  <a:t> </a:t>
                </a:r>
              </a:p>
              <a:p>
                <a:r>
                  <a:rPr lang="en-US" dirty="0"/>
                  <a:t>that error is then used to </a:t>
                </a:r>
                <a:r>
                  <a:rPr lang="en-US" b="1" dirty="0"/>
                  <a:t>adapt the step size automatically</a:t>
                </a:r>
                <a:endParaRPr lang="en-US" dirty="0"/>
              </a:p>
              <a:p>
                <a:r>
                  <a:rPr lang="en-IN" dirty="0" err="1"/>
                  <a:t>Brentq</a:t>
                </a:r>
                <a:r>
                  <a:rPr lang="en-IN" dirty="0"/>
                  <a:t> method uses bisection, secant method and inverse quadratic interpolation, </a:t>
                </a:r>
                <a:r>
                  <a:rPr lang="en-US" b="1" dirty="0"/>
                  <a:t>guaranteed convergence</a:t>
                </a:r>
                <a:r>
                  <a:rPr lang="en-US" dirty="0"/>
                  <a:t> (for continuous bracketed roots) </a:t>
                </a:r>
                <a:r>
                  <a:rPr lang="en-US" b="1" dirty="0"/>
                  <a:t>good speed</a:t>
                </a:r>
                <a:r>
                  <a:rPr lang="en-US" dirty="0"/>
                  <a:t> </a:t>
                </a:r>
                <a:r>
                  <a:rPr lang="en-US" b="1" dirty="0"/>
                  <a:t>high robustness</a:t>
                </a:r>
              </a:p>
              <a:p>
                <a:endParaRPr lang="en-US" b="1" dirty="0"/>
              </a:p>
              <a:p>
                <a:r>
                  <a:rPr lang="en-IN" dirty="0"/>
                  <a:t>To use </a:t>
                </a:r>
                <a:r>
                  <a:rPr lang="en-IN" sz="1200" kern="1200" dirty="0" err="1">
                    <a:solidFill>
                      <a:schemeClr val="tx1"/>
                    </a:solidFill>
                    <a:latin typeface="+mn-lt"/>
                    <a:ea typeface="+mn-ea"/>
                    <a:cs typeface="+mn-cs"/>
                  </a:rPr>
                  <a:t>brentq</a:t>
                </a:r>
                <a:r>
                  <a:rPr lang="en-IN" dirty="0"/>
                  <a:t>, you need:</a:t>
                </a:r>
              </a:p>
              <a:p>
                <a:r>
                  <a:rPr lang="en-IN" sz="1200" i="0" kern="1200">
                    <a:solidFill>
                      <a:schemeClr val="tx1"/>
                    </a:solidFill>
                    <a:latin typeface="+mn-lt"/>
                    <a:ea typeface="+mn-ea"/>
                    <a:cs typeface="+mn-cs"/>
                  </a:rPr>
                  <a:t>𝑓</a:t>
                </a:r>
                <a:r>
                  <a:rPr lang="ar-AE" sz="1200" i="0" kern="1200">
                    <a:solidFill>
                      <a:schemeClr val="tx1"/>
                    </a:solidFill>
                    <a:latin typeface="+mn-lt"/>
                    <a:ea typeface="+mn-ea"/>
                    <a:cs typeface="+mn-cs"/>
                  </a:rPr>
                  <a:t>(𝑎)</a:t>
                </a:r>
                <a:r>
                  <a:rPr lang="ar-AE"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mn-lt"/>
                    <a:ea typeface="+mn-ea"/>
                    <a:cs typeface="+mn-cs"/>
                  </a:rPr>
                  <a:t>" 𝑓(𝑏)&lt;0</a:t>
                </a:r>
                <a:endParaRPr lang="ar-AE" b="0" dirty="0"/>
              </a:p>
              <a:p>
                <a:r>
                  <a:rPr lang="en-IN" dirty="0"/>
                  <a:t>This means:</a:t>
                </a:r>
              </a:p>
              <a:p>
                <a:r>
                  <a:rPr lang="en-IN" dirty="0"/>
                  <a:t>one endpoint is positive </a:t>
                </a:r>
              </a:p>
              <a:p>
                <a:r>
                  <a:rPr lang="en-IN" dirty="0"/>
                  <a:t>the other is negative </a:t>
                </a:r>
              </a:p>
              <a:p>
                <a:r>
                  <a:rPr lang="en-IN" dirty="0"/>
                  <a:t>So the root is guaranteed inside the interval.</a:t>
                </a:r>
              </a:p>
              <a:p>
                <a:endParaRPr lang="en-IN" dirty="0"/>
              </a:p>
              <a:p>
                <a:r>
                  <a:rPr lang="en-US" dirty="0"/>
                  <a:t>The </a:t>
                </a:r>
                <a:r>
                  <a:rPr lang="en-US" b="1" dirty="0"/>
                  <a:t>free molecular regime</a:t>
                </a:r>
                <a:r>
                  <a:rPr lang="en-US" dirty="0"/>
                  <a:t> is the gas-flow regime where the </a:t>
                </a:r>
                <a:r>
                  <a:rPr lang="en-US" b="1" dirty="0"/>
                  <a:t>mean free path of gas molecules is much larger than the particle size</a:t>
                </a:r>
                <a:r>
                  <a:rPr lang="en-US" dirty="0"/>
                  <a:t>, so the particle experiences drag from </a:t>
                </a:r>
                <a:r>
                  <a:rPr lang="en-US" b="1" dirty="0"/>
                  <a:t>individual molecule–particle collisions</a:t>
                </a:r>
                <a:r>
                  <a:rPr lang="en-US" dirty="0"/>
                  <a:t> rather than from a continuous fluid.</a:t>
                </a:r>
              </a:p>
              <a:p>
                <a:endParaRPr lang="en-US" dirty="0"/>
              </a:p>
              <a:p>
                <a:r>
                  <a:rPr lang="en-US" dirty="0"/>
                  <a:t>The free molecular regime is common when:</a:t>
                </a:r>
              </a:p>
              <a:p>
                <a:r>
                  <a:rPr lang="en-US" b="1" dirty="0"/>
                  <a:t>pressure is low</a:t>
                </a:r>
                <a:r>
                  <a:rPr lang="en-US" dirty="0"/>
                  <a:t> </a:t>
                </a:r>
              </a:p>
              <a:p>
                <a:r>
                  <a:rPr lang="en-US" dirty="0"/>
                  <a:t>gas density is low </a:t>
                </a:r>
              </a:p>
              <a:p>
                <a:r>
                  <a:rPr lang="en-US" dirty="0"/>
                  <a:t>the mean free path is large </a:t>
                </a:r>
              </a:p>
              <a:p>
                <a:r>
                  <a:rPr lang="en-US" dirty="0"/>
                  <a:t>particles are small</a:t>
                </a:r>
              </a:p>
              <a:p>
                <a:r>
                  <a:rPr lang="en-US" dirty="0"/>
                  <a:t>The </a:t>
                </a:r>
                <a:r>
                  <a:rPr lang="en-US" b="1" dirty="0"/>
                  <a:t>continuum regime</a:t>
                </a:r>
                <a:r>
                  <a:rPr lang="en-US" dirty="0"/>
                  <a:t> is the gas-flow regime where the </a:t>
                </a:r>
                <a:r>
                  <a:rPr lang="en-US" b="1" dirty="0"/>
                  <a:t>mean free path of gas molecules is much smaller than the particle size</a:t>
                </a:r>
                <a:r>
                  <a:rPr lang="en-US" dirty="0"/>
                  <a:t>, so the gas behaves like a </a:t>
                </a:r>
                <a:r>
                  <a:rPr lang="en-US" b="1" dirty="0"/>
                  <a:t>continuous fluid</a:t>
                </a:r>
                <a:r>
                  <a:rPr lang="en-US" dirty="0"/>
                  <a:t> around the particle. In the continuum regime:</a:t>
                </a:r>
              </a:p>
              <a:p>
                <a:r>
                  <a:rPr lang="en-US" dirty="0"/>
                  <a:t>gas molecules collide with each other </a:t>
                </a:r>
                <a:r>
                  <a:rPr lang="en-US" b="1" dirty="0"/>
                  <a:t>many times</a:t>
                </a:r>
                <a:r>
                  <a:rPr lang="en-US" dirty="0"/>
                  <a:t> near the particle </a:t>
                </a:r>
              </a:p>
              <a:p>
                <a:r>
                  <a:rPr lang="en-US" dirty="0"/>
                  <a:t>the gas acts like a </a:t>
                </a:r>
                <a:r>
                  <a:rPr lang="en-US" b="1" dirty="0"/>
                  <a:t>smooth continuous medium</a:t>
                </a:r>
                <a:r>
                  <a:rPr lang="en-US" dirty="0"/>
                  <a:t> </a:t>
                </a:r>
              </a:p>
              <a:p>
                <a:r>
                  <a:rPr lang="en-US" dirty="0"/>
                  <a:t>the particle feels </a:t>
                </a:r>
                <a:r>
                  <a:rPr lang="en-US" b="1" dirty="0"/>
                  <a:t>fluid drag</a:t>
                </a:r>
                <a:r>
                  <a:rPr lang="en-US" dirty="0"/>
                  <a:t> </a:t>
                </a:r>
              </a:p>
              <a:p>
                <a:r>
                  <a:rPr lang="en-US" dirty="0"/>
                  <a:t>classical viscous drag laws (like </a:t>
                </a:r>
                <a:r>
                  <a:rPr lang="en-US" b="1" dirty="0"/>
                  <a:t>Stokes drag</a:t>
                </a:r>
                <a:r>
                  <a:rPr lang="en-US" dirty="0"/>
                  <a:t>) can be used</a:t>
                </a:r>
              </a:p>
              <a:p>
                <a:endParaRPr lang="en-IN" dirty="0"/>
              </a:p>
            </p:txBody>
          </p:sp>
        </mc:Fallback>
      </mc:AlternateContent>
      <p:sp>
        <p:nvSpPr>
          <p:cNvPr id="4" name="Slide Number Placeholder 3"/>
          <p:cNvSpPr>
            <a:spLocks noGrp="1"/>
          </p:cNvSpPr>
          <p:nvPr>
            <p:ph type="sldNum" sz="quarter" idx="5"/>
          </p:nvPr>
        </p:nvSpPr>
        <p:spPr/>
        <p:txBody>
          <a:bodyPr/>
          <a:lstStyle/>
          <a:p>
            <a:fld id="{62C4F202-C536-4C1E-B02E-9DAA1E4F52EA}" type="slidenum">
              <a:rPr lang="en-IN" smtClean="0"/>
              <a:t>6</a:t>
            </a:fld>
            <a:endParaRPr lang="en-IN"/>
          </a:p>
        </p:txBody>
      </p:sp>
    </p:spTree>
    <p:extLst>
      <p:ext uri="{BB962C8B-B14F-4D97-AF65-F5344CB8AC3E}">
        <p14:creationId xmlns:p14="http://schemas.microsoft.com/office/powerpoint/2010/main" val="3687633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Data constrained from transmission spectra of the planet</a:t>
                </a:r>
              </a:p>
              <a:p>
                <a:endParaRPr lang="en-US" dirty="0"/>
              </a:p>
              <a:p>
                <a:r>
                  <a:rPr lang="en-IN" dirty="0"/>
                  <a:t>At the intersection:</a:t>
                </a:r>
              </a:p>
              <a:p>
                <a:r>
                  <a:rPr lang="en-IN" dirty="0"/>
                  <a:t>the atmosphere reaches the temperature–pressure conditions where NH</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sub>
                        <m:r>
                          <a:rPr lang="ar-AE" sz="1200" kern="1200">
                            <a:solidFill>
                              <a:schemeClr val="tx1"/>
                            </a:solidFill>
                            <a:latin typeface="Cambria Math" panose="02040503050406030204" pitchFamily="18" charset="0"/>
                            <a:ea typeface="+mn-ea"/>
                            <a:cs typeface="+mn-cs"/>
                          </a:rPr>
                          <m:t>3</m:t>
                        </m:r>
                      </m:sub>
                    </m:sSub>
                  </m:oMath>
                </a14:m>
                <a:r>
                  <a:rPr lang="ar-AE" dirty="0"/>
                  <a:t> </a:t>
                </a:r>
                <a:r>
                  <a:rPr lang="en-IN" dirty="0"/>
                  <a:t>becomes saturated </a:t>
                </a:r>
              </a:p>
              <a:p>
                <a:r>
                  <a:rPr lang="en-IN" dirty="0"/>
                  <a:t>i.e. </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𝑣</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𝑠</m:t>
                          </m:r>
                        </m:sub>
                      </m:sSub>
                    </m:oMath>
                  </m:oMathPara>
                </a14:m>
                <a:endParaRPr lang="ar-AE" dirty="0"/>
              </a:p>
              <a:p>
                <a:r>
                  <a:rPr lang="en-IN" dirty="0"/>
                  <a:t>So this is the level where:</a:t>
                </a:r>
              </a:p>
              <a:p>
                <a:r>
                  <a:rPr lang="en-IN" dirty="0"/>
                  <a:t>NH</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sub>
                        <m:r>
                          <a:rPr lang="ar-AE" sz="1200" kern="1200">
                            <a:solidFill>
                              <a:schemeClr val="tx1"/>
                            </a:solidFill>
                            <a:latin typeface="Cambria Math" panose="02040503050406030204" pitchFamily="18" charset="0"/>
                            <a:ea typeface="+mn-ea"/>
                            <a:cs typeface="+mn-cs"/>
                          </a:rPr>
                          <m:t>3</m:t>
                        </m:r>
                      </m:sub>
                    </m:sSub>
                  </m:oMath>
                </a14:m>
                <a:r>
                  <a:rPr lang="ar-AE" dirty="0"/>
                  <a:t> </a:t>
                </a:r>
                <a:r>
                  <a:rPr lang="en-IN" dirty="0"/>
                  <a:t>vapor can no longer remain fully in gas form </a:t>
                </a:r>
              </a:p>
              <a:p>
                <a:r>
                  <a:rPr lang="en-IN" dirty="0"/>
                  <a:t>condensation begins</a:t>
                </a:r>
              </a:p>
              <a:p>
                <a:r>
                  <a:rPr lang="en-IN" dirty="0"/>
                  <a:t>Where condensation is thermodynamically possible.</a:t>
                </a:r>
              </a:p>
              <a:p>
                <a:r>
                  <a:rPr lang="en-IN" dirty="0" err="1"/>
                  <a:t>Kzz</a:t>
                </a:r>
                <a:r>
                  <a:rPr lang="en-IN" dirty="0"/>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𝑓</m:t>
                        </m:r>
                      </m:e>
                      <m:sub>
                        <m:r>
                          <m:rPr>
                            <m:sty m:val="p"/>
                          </m:rPr>
                          <a:rPr lang="en-IN" sz="1200" i="0" kern="1200">
                            <a:solidFill>
                              <a:schemeClr val="tx1"/>
                            </a:solidFill>
                            <a:latin typeface="Cambria Math" panose="02040503050406030204" pitchFamily="18" charset="0"/>
                            <a:ea typeface="+mn-ea"/>
                            <a:cs typeface="+mn-cs"/>
                          </a:rPr>
                          <m:t>sed</m:t>
                        </m:r>
                      </m:sub>
                    </m:sSub>
                  </m:oMath>
                </a14:m>
                <a:r>
                  <a:rPr lang="en-IN" dirty="0"/>
                  <a:t>available condensable abundance vertical mixing sedimentation depletion of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𝑡</m:t>
                        </m:r>
                      </m:sub>
                    </m:sSub>
                  </m:oMath>
                </a14:m>
                <a:endParaRPr lang="en-IN" dirty="0"/>
              </a:p>
            </p:txBody>
          </p:sp>
        </mc:Choice>
        <mc:Fallback xmlns="">
          <p:sp>
            <p:nvSpPr>
              <p:cNvPr id="3" name="Notes Placeholder 2"/>
              <p:cNvSpPr>
                <a:spLocks noGrp="1"/>
              </p:cNvSpPr>
              <p:nvPr>
                <p:ph type="body" idx="1"/>
              </p:nvPr>
            </p:nvSpPr>
            <p:spPr/>
            <p:txBody>
              <a:bodyPr/>
              <a:lstStyle/>
              <a:p>
                <a:r>
                  <a:rPr lang="en-US" dirty="0"/>
                  <a:t>Data constrained from transmission spectra of the planet</a:t>
                </a:r>
              </a:p>
              <a:p>
                <a:endParaRPr lang="en-US" dirty="0"/>
              </a:p>
              <a:p>
                <a:r>
                  <a:rPr lang="en-IN" dirty="0"/>
                  <a:t>At the intersection:</a:t>
                </a:r>
              </a:p>
              <a:p>
                <a:r>
                  <a:rPr lang="en-IN" dirty="0"/>
                  <a:t>the atmosphere reaches the temperature–pressure conditions where NH</a:t>
                </a:r>
                <a:r>
                  <a:rPr lang="ar-AE" sz="1200" i="0" kern="1200">
                    <a:solidFill>
                      <a:schemeClr val="tx1"/>
                    </a:solidFill>
                    <a:latin typeface="+mn-lt"/>
                    <a:ea typeface="+mn-ea"/>
                    <a:cs typeface="+mn-cs"/>
                  </a:rPr>
                  <a:t>〖_3</a:t>
                </a:r>
                <a:r>
                  <a:rPr lang="en-IN" sz="1200" i="0" kern="1200">
                    <a:solidFill>
                      <a:schemeClr val="tx1"/>
                    </a:solidFill>
                    <a:latin typeface="+mn-lt"/>
                    <a:ea typeface="+mn-ea"/>
                    <a:cs typeface="+mn-cs"/>
                  </a:rPr>
                  <a:t>〗</a:t>
                </a:r>
                <a:r>
                  <a:rPr lang="ar-AE" dirty="0"/>
                  <a:t> </a:t>
                </a:r>
                <a:r>
                  <a:rPr lang="en-IN" dirty="0"/>
                  <a:t>becomes saturated </a:t>
                </a:r>
              </a:p>
              <a:p>
                <a:r>
                  <a:rPr lang="en-IN" dirty="0"/>
                  <a:t>i.e. </a:t>
                </a:r>
              </a:p>
              <a:p>
                <a:r>
                  <a:rPr lang="ar-AE" sz="1200" i="0" kern="1200">
                    <a:solidFill>
                      <a:schemeClr val="tx1"/>
                    </a:solidFill>
                    <a:latin typeface="+mn-lt"/>
                    <a:ea typeface="+mn-ea"/>
                    <a:cs typeface="+mn-cs"/>
                  </a:rPr>
                  <a:t>𝑞_𝑣=𝑞_𝑠</a:t>
                </a:r>
                <a:endParaRPr lang="ar-AE" dirty="0"/>
              </a:p>
              <a:p>
                <a:r>
                  <a:rPr lang="en-IN" dirty="0"/>
                  <a:t>So this is the level where:</a:t>
                </a:r>
              </a:p>
              <a:p>
                <a:r>
                  <a:rPr lang="en-IN" dirty="0"/>
                  <a:t>NH</a:t>
                </a:r>
                <a:r>
                  <a:rPr lang="ar-AE" sz="1200" i="0" kern="1200">
                    <a:solidFill>
                      <a:schemeClr val="tx1"/>
                    </a:solidFill>
                    <a:latin typeface="+mn-lt"/>
                    <a:ea typeface="+mn-ea"/>
                    <a:cs typeface="+mn-cs"/>
                  </a:rPr>
                  <a:t>〖_3</a:t>
                </a:r>
                <a:r>
                  <a:rPr lang="en-IN" sz="1200" i="0" kern="1200">
                    <a:solidFill>
                      <a:schemeClr val="tx1"/>
                    </a:solidFill>
                    <a:latin typeface="+mn-lt"/>
                    <a:ea typeface="+mn-ea"/>
                    <a:cs typeface="+mn-cs"/>
                  </a:rPr>
                  <a:t>〗</a:t>
                </a:r>
                <a:r>
                  <a:rPr lang="ar-AE" dirty="0"/>
                  <a:t> </a:t>
                </a:r>
                <a:r>
                  <a:rPr lang="en-IN" dirty="0"/>
                  <a:t>vapor can no longer remain fully in gas form </a:t>
                </a:r>
              </a:p>
              <a:p>
                <a:r>
                  <a:rPr lang="en-IN" dirty="0"/>
                  <a:t>condensation begins</a:t>
                </a:r>
              </a:p>
              <a:p>
                <a:r>
                  <a:rPr lang="en-IN" dirty="0"/>
                  <a:t>Where condensation is thermodynamically possible.</a:t>
                </a:r>
              </a:p>
              <a:p>
                <a:r>
                  <a:rPr lang="en-IN" dirty="0" err="1"/>
                  <a:t>Kzz</a:t>
                </a:r>
                <a:r>
                  <a:rPr lang="en-IN" dirty="0"/>
                  <a:t>​ </a:t>
                </a:r>
                <a:r>
                  <a:rPr lang="ar-AE" sz="1200" i="0" kern="1200">
                    <a:solidFill>
                      <a:schemeClr val="tx1"/>
                    </a:solidFill>
                    <a:latin typeface="+mn-lt"/>
                    <a:ea typeface="+mn-ea"/>
                    <a:cs typeface="+mn-cs"/>
                  </a:rPr>
                  <a:t>𝑓_</a:t>
                </a:r>
                <a:r>
                  <a:rPr lang="en-IN" sz="1200" i="0" kern="1200">
                    <a:solidFill>
                      <a:schemeClr val="tx1"/>
                    </a:solidFill>
                    <a:latin typeface="+mn-lt"/>
                    <a:ea typeface="+mn-ea"/>
                    <a:cs typeface="+mn-cs"/>
                  </a:rPr>
                  <a:t>sed</a:t>
                </a:r>
                <a:r>
                  <a:rPr lang="en-IN" dirty="0"/>
                  <a:t>available condensable abundance vertical mixing sedimentation depletion of </a:t>
                </a:r>
                <a:r>
                  <a:rPr lang="ar-AE" sz="1200" i="0" kern="1200">
                    <a:solidFill>
                      <a:schemeClr val="tx1"/>
                    </a:solidFill>
                    <a:latin typeface="+mn-lt"/>
                    <a:ea typeface="+mn-ea"/>
                    <a:cs typeface="+mn-cs"/>
                  </a:rPr>
                  <a:t>𝑞_𝑡</a:t>
                </a:r>
                <a:endParaRPr lang="en-IN" dirty="0"/>
              </a:p>
            </p:txBody>
          </p:sp>
        </mc:Fallback>
      </mc:AlternateContent>
      <p:sp>
        <p:nvSpPr>
          <p:cNvPr id="4" name="Slide Number Placeholder 3"/>
          <p:cNvSpPr>
            <a:spLocks noGrp="1"/>
          </p:cNvSpPr>
          <p:nvPr>
            <p:ph type="sldNum" sz="quarter" idx="5"/>
          </p:nvPr>
        </p:nvSpPr>
        <p:spPr/>
        <p:txBody>
          <a:bodyPr/>
          <a:lstStyle/>
          <a:p>
            <a:fld id="{62C4F202-C536-4C1E-B02E-9DAA1E4F52EA}" type="slidenum">
              <a:rPr lang="en-IN" smtClean="0"/>
              <a:t>7</a:t>
            </a:fld>
            <a:endParaRPr lang="en-IN"/>
          </a:p>
        </p:txBody>
      </p:sp>
    </p:spTree>
    <p:extLst>
      <p:ext uri="{BB962C8B-B14F-4D97-AF65-F5344CB8AC3E}">
        <p14:creationId xmlns:p14="http://schemas.microsoft.com/office/powerpoint/2010/main" val="738783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base mismatch overall trend even though same above cloud base we can see for lower </a:t>
            </a:r>
            <a:r>
              <a:rPr lang="en-US" dirty="0" err="1"/>
              <a:t>f_sed</a:t>
            </a:r>
            <a:r>
              <a:rPr lang="en-US" dirty="0"/>
              <a:t> value the agreement is very bad. I was comparing my model to the old model of </a:t>
            </a:r>
            <a:r>
              <a:rPr lang="en-US" dirty="0" err="1"/>
              <a:t>ackerman</a:t>
            </a:r>
            <a:r>
              <a:rPr lang="en-US" dirty="0"/>
              <a:t> and </a:t>
            </a:r>
            <a:r>
              <a:rPr lang="en-US" dirty="0" err="1"/>
              <a:t>marley</a:t>
            </a:r>
            <a:r>
              <a:rPr lang="en-US" dirty="0"/>
              <a:t> which used old methods to compute.</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8</a:t>
            </a:fld>
            <a:endParaRPr lang="en-IN"/>
          </a:p>
        </p:txBody>
      </p:sp>
    </p:spTree>
    <p:extLst>
      <p:ext uri="{BB962C8B-B14F-4D97-AF65-F5344CB8AC3E}">
        <p14:creationId xmlns:p14="http://schemas.microsoft.com/office/powerpoint/2010/main" val="1842248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Our work exactly matches with the latest cloud formation model – virga.  Lower </a:t>
                </a:r>
                <a:r>
                  <a:rPr lang="en-US" dirty="0" err="1"/>
                  <a:t>f_sed</a:t>
                </a:r>
                <a:r>
                  <a:rPr lang="en-US" dirty="0"/>
                  <a:t> forms cloud at hotter temperatures, it forms clouds at lower pressure levels. Lower </a:t>
                </a:r>
                <a:r>
                  <a:rPr lang="en-US" dirty="0" err="1"/>
                  <a:t>f_sed</a:t>
                </a:r>
                <a:r>
                  <a:rPr lang="en-US" dirty="0"/>
                  <a:t> gives more clouds than higher </a:t>
                </a:r>
                <a:r>
                  <a:rPr lang="en-US" dirty="0" err="1"/>
                  <a:t>f_sed</a:t>
                </a:r>
                <a:r>
                  <a:rPr lang="en-US" dirty="0"/>
                  <a:t>, </a:t>
                </a:r>
                <a:r>
                  <a:rPr lang="en-US" dirty="0" err="1"/>
                  <a:t>f_sed</a:t>
                </a:r>
                <a:r>
                  <a:rPr lang="en-US" dirty="0"/>
                  <a:t> more means sedimentation force is dominating the turbulent force, </a:t>
                </a:r>
                <a:r>
                  <a:rPr lang="en-IN" dirty="0"/>
                  <a:t>condensate particles settle downward the total condensable reservoir gets depleted vertical mixing may no longer fully replenish the cloud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𝑡</m:t>
                        </m:r>
                      </m:sub>
                    </m:sSub>
                  </m:oMath>
                </a14:m>
                <a:r>
                  <a:rPr lang="en-IN" dirty="0"/>
                  <a:t>starts to drop significantly and then:</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𝑐</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𝑡</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𝑠</m:t>
                          </m:r>
                        </m:sub>
                      </m:sSub>
                    </m:oMath>
                  </m:oMathPara>
                </a14:m>
                <a:endParaRPr lang="ar-AE" dirty="0"/>
              </a:p>
              <a:p>
                <a:r>
                  <a:rPr lang="en-IN" dirty="0"/>
                  <a:t>starts to </a:t>
                </a:r>
                <a:r>
                  <a:rPr lang="en-IN" b="1" dirty="0"/>
                  <a:t>decrease</a:t>
                </a:r>
                <a:r>
                  <a:rPr lang="en-IN" dirty="0"/>
                  <a:t>.</a:t>
                </a:r>
              </a:p>
              <a:p>
                <a:r>
                  <a:rPr lang="en-IN" dirty="0"/>
                  <a:t>Thus the curve turns back </a:t>
                </a:r>
                <a:r>
                  <a:rPr lang="en-IN" b="1" dirty="0"/>
                  <a:t>left</a:t>
                </a:r>
                <a:r>
                  <a:rPr lang="en-IN" dirty="0"/>
                  <a:t>.</a:t>
                </a:r>
              </a:p>
              <a:p>
                <a:endParaRPr lang="en-IN" dirty="0"/>
              </a:p>
            </p:txBody>
          </p:sp>
        </mc:Choice>
        <mc:Fallback xmlns="">
          <p:sp>
            <p:nvSpPr>
              <p:cNvPr id="3" name="Notes Placeholder 2"/>
              <p:cNvSpPr>
                <a:spLocks noGrp="1"/>
              </p:cNvSpPr>
              <p:nvPr>
                <p:ph type="body" idx="1"/>
              </p:nvPr>
            </p:nvSpPr>
            <p:spPr/>
            <p:txBody>
              <a:bodyPr/>
              <a:lstStyle/>
              <a:p>
                <a:r>
                  <a:rPr lang="en-US" dirty="0"/>
                  <a:t>Our work exactly matches with the latest cloud formation model – virga.  Lower </a:t>
                </a:r>
                <a:r>
                  <a:rPr lang="en-US" dirty="0" err="1"/>
                  <a:t>f_sed</a:t>
                </a:r>
                <a:r>
                  <a:rPr lang="en-US" dirty="0"/>
                  <a:t> forms cloud at hotter temperatures, it forms clouds at lower pressure levels. Lower </a:t>
                </a:r>
                <a:r>
                  <a:rPr lang="en-US" dirty="0" err="1"/>
                  <a:t>f_sed</a:t>
                </a:r>
                <a:r>
                  <a:rPr lang="en-US" dirty="0"/>
                  <a:t> gives more clouds than higher </a:t>
                </a:r>
                <a:r>
                  <a:rPr lang="en-US" dirty="0" err="1"/>
                  <a:t>f_sed</a:t>
                </a:r>
                <a:r>
                  <a:rPr lang="en-US" dirty="0"/>
                  <a:t>, </a:t>
                </a:r>
                <a:r>
                  <a:rPr lang="en-US" dirty="0" err="1"/>
                  <a:t>f_sed</a:t>
                </a:r>
                <a:r>
                  <a:rPr lang="en-US" dirty="0"/>
                  <a:t> more means sedimentation force is dominating the turbulent force, </a:t>
                </a:r>
                <a:r>
                  <a:rPr lang="en-IN" dirty="0"/>
                  <a:t>condensate particles settle downward the total condensable reservoir gets depleted vertical mixing may no longer fully replenish the cloud </a:t>
                </a:r>
                <a:r>
                  <a:rPr lang="ar-AE" sz="1200" i="0" kern="1200">
                    <a:solidFill>
                      <a:schemeClr val="tx1"/>
                    </a:solidFill>
                    <a:latin typeface="+mn-lt"/>
                    <a:ea typeface="+mn-ea"/>
                    <a:cs typeface="+mn-cs"/>
                  </a:rPr>
                  <a:t>𝑞_𝑡</a:t>
                </a:r>
                <a:r>
                  <a:rPr lang="en-IN" dirty="0"/>
                  <a:t>starts to drop significantly and then:</a:t>
                </a:r>
              </a:p>
              <a:p>
                <a:r>
                  <a:rPr lang="ar-AE" sz="1200" i="0" kern="1200">
                    <a:solidFill>
                      <a:schemeClr val="tx1"/>
                    </a:solidFill>
                    <a:latin typeface="+mn-lt"/>
                    <a:ea typeface="+mn-ea"/>
                    <a:cs typeface="+mn-cs"/>
                  </a:rPr>
                  <a:t>𝑞_𝑐=𝑞_𝑡−𝑞_𝑠</a:t>
                </a:r>
                <a:endParaRPr lang="ar-AE" dirty="0"/>
              </a:p>
              <a:p>
                <a:r>
                  <a:rPr lang="en-IN" dirty="0"/>
                  <a:t>starts to </a:t>
                </a:r>
                <a:r>
                  <a:rPr lang="en-IN" b="1" dirty="0"/>
                  <a:t>decrease</a:t>
                </a:r>
                <a:r>
                  <a:rPr lang="en-IN" dirty="0"/>
                  <a:t>.</a:t>
                </a:r>
              </a:p>
              <a:p>
                <a:r>
                  <a:rPr lang="en-IN" dirty="0"/>
                  <a:t>Thus the curve turns back </a:t>
                </a:r>
                <a:r>
                  <a:rPr lang="en-IN" b="1" dirty="0"/>
                  <a:t>left</a:t>
                </a:r>
                <a:r>
                  <a:rPr lang="en-IN" dirty="0"/>
                  <a:t>.</a:t>
                </a:r>
              </a:p>
              <a:p>
                <a:endParaRPr lang="en-IN" dirty="0"/>
              </a:p>
            </p:txBody>
          </p:sp>
        </mc:Fallback>
      </mc:AlternateContent>
      <p:sp>
        <p:nvSpPr>
          <p:cNvPr id="4" name="Slide Number Placeholder 3"/>
          <p:cNvSpPr>
            <a:spLocks noGrp="1"/>
          </p:cNvSpPr>
          <p:nvPr>
            <p:ph type="sldNum" sz="quarter" idx="5"/>
          </p:nvPr>
        </p:nvSpPr>
        <p:spPr/>
        <p:txBody>
          <a:bodyPr/>
          <a:lstStyle/>
          <a:p>
            <a:fld id="{62C4F202-C536-4C1E-B02E-9DAA1E4F52EA}" type="slidenum">
              <a:rPr lang="en-IN" smtClean="0"/>
              <a:t>9</a:t>
            </a:fld>
            <a:endParaRPr lang="en-IN"/>
          </a:p>
        </p:txBody>
      </p:sp>
    </p:spTree>
    <p:extLst>
      <p:ext uri="{BB962C8B-B14F-4D97-AF65-F5344CB8AC3E}">
        <p14:creationId xmlns:p14="http://schemas.microsoft.com/office/powerpoint/2010/main" val="1227502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Column density</a:t>
            </a:r>
            <a:r>
              <a:rPr lang="en-US" dirty="0"/>
              <a:t> is the </a:t>
            </a:r>
            <a:r>
              <a:rPr lang="en-US" b="1" dirty="0"/>
              <a:t>total amount of material integrated along a vertical column (or line of sight)</a:t>
            </a:r>
            <a:r>
              <a:rPr lang="en-US" dirty="0"/>
              <a:t> through the atmosphere. N depends inverse of </a:t>
            </a:r>
            <a:r>
              <a:rPr lang="en-US" dirty="0" err="1"/>
              <a:t>r_g</a:t>
            </a:r>
            <a:r>
              <a:rPr lang="en-US" dirty="0"/>
              <a:t>, which depends on </a:t>
            </a:r>
            <a:r>
              <a:rPr lang="en-US" dirty="0" err="1"/>
              <a:t>r_w</a:t>
            </a:r>
            <a:r>
              <a:rPr lang="en-US" dirty="0"/>
              <a:t>, </a:t>
            </a:r>
            <a:r>
              <a:rPr lang="en-US" dirty="0" err="1"/>
              <a:t>rho_a</a:t>
            </a:r>
            <a:r>
              <a:rPr lang="en-US" dirty="0"/>
              <a:t> – </a:t>
            </a:r>
            <a:r>
              <a:rPr lang="en-US" dirty="0" err="1"/>
              <a:t>atmo</a:t>
            </a:r>
            <a:r>
              <a:rPr lang="en-US" dirty="0"/>
              <a:t> density, </a:t>
            </a:r>
            <a:r>
              <a:rPr lang="en-US" dirty="0" err="1"/>
              <a:t>rho_p</a:t>
            </a:r>
            <a:r>
              <a:rPr lang="en-US" dirty="0"/>
              <a:t> density of molecule</a:t>
            </a:r>
          </a:p>
          <a:p>
            <a:r>
              <a:rPr lang="en-US" dirty="0"/>
              <a:t>Reff – area weighted particle radius</a:t>
            </a:r>
          </a:p>
          <a:p>
            <a:r>
              <a:rPr lang="en-US" dirty="0" err="1"/>
              <a:t>Rg</a:t>
            </a:r>
            <a:r>
              <a:rPr lang="en-US" dirty="0"/>
              <a:t> – geometric mean radius of logarithm size distribution, </a:t>
            </a:r>
            <a:r>
              <a:rPr lang="en-US" dirty="0" err="1"/>
              <a:t>rg</a:t>
            </a:r>
            <a:r>
              <a:rPr lang="en-US" dirty="0"/>
              <a:t> is center of particle size distribution in log space</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10</a:t>
            </a:fld>
            <a:endParaRPr lang="en-IN"/>
          </a:p>
        </p:txBody>
      </p:sp>
    </p:spTree>
    <p:extLst>
      <p:ext uri="{BB962C8B-B14F-4D97-AF65-F5344CB8AC3E}">
        <p14:creationId xmlns:p14="http://schemas.microsoft.com/office/powerpoint/2010/main" val="1030241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R_g</a:t>
            </a:r>
            <a:r>
              <a:rPr lang="en-US" dirty="0"/>
              <a:t> depends on </a:t>
            </a:r>
            <a:r>
              <a:rPr lang="en-US" dirty="0" err="1"/>
              <a:t>rw</a:t>
            </a:r>
            <a:r>
              <a:rPr lang="en-US" dirty="0"/>
              <a:t>, </a:t>
            </a:r>
            <a:r>
              <a:rPr lang="en-US" dirty="0" err="1"/>
              <a:t>reff</a:t>
            </a:r>
            <a:r>
              <a:rPr lang="en-US" dirty="0"/>
              <a:t> depends linearly on </a:t>
            </a:r>
            <a:r>
              <a:rPr lang="en-US" dirty="0" err="1"/>
              <a:t>rg</a:t>
            </a:r>
            <a:r>
              <a:rPr lang="en-US" dirty="0"/>
              <a:t>, sigma is geometric standard deviation of cloud particle size distribution, alpha is power law approximation</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11</a:t>
            </a:fld>
            <a:endParaRPr lang="en-IN"/>
          </a:p>
        </p:txBody>
      </p:sp>
    </p:spTree>
    <p:extLst>
      <p:ext uri="{BB962C8B-B14F-4D97-AF65-F5344CB8AC3E}">
        <p14:creationId xmlns:p14="http://schemas.microsoft.com/office/powerpoint/2010/main" val="1297845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Higher fall speed gives higher </a:t>
            </a:r>
            <a:r>
              <a:rPr lang="en-US" dirty="0" err="1"/>
              <a:t>rw</a:t>
            </a:r>
            <a:r>
              <a:rPr lang="en-US" dirty="0"/>
              <a:t>, higher </a:t>
            </a:r>
            <a:r>
              <a:rPr lang="en-US" dirty="0" err="1"/>
              <a:t>fsed</a:t>
            </a:r>
            <a:r>
              <a:rPr lang="en-US" dirty="0"/>
              <a:t>, </a:t>
            </a:r>
            <a:r>
              <a:rPr lang="en-US" dirty="0" err="1"/>
              <a:t>rw</a:t>
            </a:r>
            <a:r>
              <a:rPr lang="en-US" dirty="0"/>
              <a:t> influences </a:t>
            </a:r>
            <a:r>
              <a:rPr lang="en-US" dirty="0" err="1"/>
              <a:t>ndz</a:t>
            </a:r>
            <a:r>
              <a:rPr lang="en-US" dirty="0"/>
              <a:t> and </a:t>
            </a:r>
            <a:r>
              <a:rPr lang="en-US" dirty="0" err="1"/>
              <a:t>reff</a:t>
            </a:r>
            <a:r>
              <a:rPr lang="en-US" dirty="0"/>
              <a:t>, Beta is </a:t>
            </a:r>
            <a:r>
              <a:rPr lang="en-US" dirty="0" err="1"/>
              <a:t>cunningham</a:t>
            </a:r>
            <a:r>
              <a:rPr lang="en-US" dirty="0"/>
              <a:t> slip correction factor, eta is atmospheric viscosity</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12</a:t>
            </a:fld>
            <a:endParaRPr lang="en-IN"/>
          </a:p>
        </p:txBody>
      </p:sp>
    </p:spTree>
    <p:extLst>
      <p:ext uri="{BB962C8B-B14F-4D97-AF65-F5344CB8AC3E}">
        <p14:creationId xmlns:p14="http://schemas.microsoft.com/office/powerpoint/2010/main" val="2377982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type star  is white yellow main sequence star, hotter (6000 – 7.4k) and more massive than sun (1.1 -1.6) solar masses </a:t>
            </a:r>
            <a:r>
              <a:rPr lang="en-US" sz="1200" b="0" i="0" kern="1200" dirty="0">
                <a:solidFill>
                  <a:schemeClr val="tx1"/>
                </a:solidFill>
                <a:effectLst/>
                <a:latin typeface="+mn-lt"/>
                <a:ea typeface="+mn-ea"/>
                <a:cs typeface="+mn-cs"/>
              </a:rPr>
              <a:t>he 8.6-micrometer (</a:t>
            </a:r>
          </a:p>
          <a:p>
            <a:r>
              <a:rPr lang="en-US" sz="1200" b="0" i="0" kern="1200" dirty="0">
                <a:solidFill>
                  <a:schemeClr val="tx1"/>
                </a:solidFill>
                <a:effectLst/>
                <a:latin typeface="+mn-lt"/>
                <a:ea typeface="+mn-ea"/>
                <a:cs typeface="+mn-cs"/>
              </a:rPr>
              <a:t>m) spectroscopic feature for Aluminum Oxide (</a:t>
            </a:r>
          </a:p>
          <a:p>
            <a:r>
              <a:rPr lang="en-US" sz="1200" b="0" i="0" kern="1200" dirty="0">
                <a:solidFill>
                  <a:schemeClr val="tx1"/>
                </a:solidFill>
                <a:effectLst/>
                <a:latin typeface="+mn-lt"/>
                <a:ea typeface="+mn-ea"/>
                <a:cs typeface="+mn-cs"/>
              </a:rPr>
              <a:t>) is significant because it provides a </a:t>
            </a:r>
            <a:r>
              <a:rPr lang="en-US" sz="1200" b="1" i="0" kern="1200" dirty="0">
                <a:solidFill>
                  <a:schemeClr val="tx1"/>
                </a:solidFill>
                <a:effectLst/>
                <a:latin typeface="+mn-lt"/>
                <a:ea typeface="+mn-ea"/>
                <a:cs typeface="+mn-cs"/>
                <a:hlinkClick r:id="rId3"/>
              </a:rPr>
              <a:t>unique, non-destructive signature</a:t>
            </a:r>
            <a:r>
              <a:rPr lang="en-US" sz="1200" b="1" i="0" kern="1200" dirty="0">
                <a:solidFill>
                  <a:schemeClr val="tx1"/>
                </a:solidFill>
                <a:effectLst/>
                <a:latin typeface="+mn-lt"/>
                <a:ea typeface="+mn-ea"/>
                <a:cs typeface="+mn-cs"/>
              </a:rPr>
              <a:t> to identify and distinguish crystalline phase alumina feature arises from vibrational mode in Al-O bond. 8.6 um is key identifier of </a:t>
            </a:r>
            <a:r>
              <a:rPr lang="en-US" sz="1200" b="1" i="0" kern="1200" dirty="0" err="1">
                <a:solidFill>
                  <a:schemeClr val="tx1"/>
                </a:solidFill>
                <a:effectLst/>
                <a:latin typeface="+mn-lt"/>
                <a:ea typeface="+mn-ea"/>
                <a:cs typeface="+mn-cs"/>
              </a:rPr>
              <a:t>amorphos</a:t>
            </a:r>
            <a:r>
              <a:rPr lang="en-US" sz="1200" b="1" i="0" kern="1200" dirty="0">
                <a:solidFill>
                  <a:schemeClr val="tx1"/>
                </a:solidFill>
                <a:effectLst/>
                <a:latin typeface="+mn-lt"/>
                <a:ea typeface="+mn-ea"/>
                <a:cs typeface="+mn-cs"/>
              </a:rPr>
              <a:t> silica</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14</a:t>
            </a:fld>
            <a:endParaRPr lang="en-IN"/>
          </a:p>
        </p:txBody>
      </p:sp>
    </p:spTree>
    <p:extLst>
      <p:ext uri="{BB962C8B-B14F-4D97-AF65-F5344CB8AC3E}">
        <p14:creationId xmlns:p14="http://schemas.microsoft.com/office/powerpoint/2010/main" val="1340692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Q_below</a:t>
            </a:r>
            <a:r>
              <a:rPr lang="en-US" dirty="0"/>
              <a:t> is </a:t>
            </a:r>
            <a:r>
              <a:rPr lang="en-US" dirty="0" err="1"/>
              <a:t>q_t</a:t>
            </a:r>
            <a:r>
              <a:rPr lang="en-US" dirty="0"/>
              <a:t> in the immediately </a:t>
            </a:r>
            <a:r>
              <a:rPr lang="en-US" dirty="0" err="1"/>
              <a:t>preceeding</a:t>
            </a:r>
            <a:r>
              <a:rPr lang="en-US" dirty="0"/>
              <a:t> layer towards higher pressure., metallicity also influences </a:t>
            </a:r>
            <a:r>
              <a:rPr lang="en-US" dirty="0" err="1"/>
              <a:t>q_v</a:t>
            </a:r>
            <a:r>
              <a:rPr lang="en-US" dirty="0"/>
              <a:t> – </a:t>
            </a:r>
            <a:r>
              <a:rPr lang="en-US" dirty="0" err="1"/>
              <a:t>mh</a:t>
            </a:r>
            <a:r>
              <a:rPr lang="en-US" dirty="0"/>
              <a:t> is abundance of elements heavier than H and He, high qv, high qc, more element present in the atmosphere it becomes readily condensable at higher temp and pressure. 100 </a:t>
            </a:r>
            <a:r>
              <a:rPr lang="en-US" dirty="0" err="1"/>
              <a:t>mh</a:t>
            </a:r>
            <a:r>
              <a:rPr lang="en-US" dirty="0"/>
              <a:t> = 100 times elemental abundance in sun</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15</a:t>
            </a:fld>
            <a:endParaRPr lang="en-IN"/>
          </a:p>
        </p:txBody>
      </p:sp>
    </p:spTree>
    <p:extLst>
      <p:ext uri="{BB962C8B-B14F-4D97-AF65-F5344CB8AC3E}">
        <p14:creationId xmlns:p14="http://schemas.microsoft.com/office/powerpoint/2010/main" val="377650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err="1"/>
                  <a:t>Mh</a:t>
                </a:r>
                <a:r>
                  <a:rPr lang="en-US" dirty="0"/>
                  <a:t> =1 , 0.005 microns, </a:t>
                </a:r>
                <a:r>
                  <a:rPr lang="en-US" dirty="0" err="1"/>
                  <a:t>mh</a:t>
                </a:r>
                <a:r>
                  <a:rPr lang="en-US" dirty="0"/>
                  <a:t> = 10 goes up until 0.015 microns and </a:t>
                </a:r>
                <a:r>
                  <a:rPr lang="en-US" dirty="0" err="1"/>
                  <a:t>mh</a:t>
                </a:r>
                <a:r>
                  <a:rPr lang="en-US" dirty="0"/>
                  <a:t> = 100 goes up to 0.05 microns, more metallicity means more qc which means more condensable material. </a:t>
                </a:r>
                <a:r>
                  <a:rPr lang="en-IN" dirty="0"/>
                  <a:t>But in </a:t>
                </a:r>
                <a:r>
                  <a:rPr lang="en-IN" dirty="0" err="1"/>
                  <a:t>sedimenting</a:t>
                </a:r>
                <a:r>
                  <a:rPr lang="en-IN" dirty="0"/>
                  <a:t> cloud models, larger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𝑞</m:t>
                        </m:r>
                      </m:e>
                      <m:sub>
                        <m:r>
                          <a:rPr lang="ar-AE" sz="1200" i="1" kern="1200">
                            <a:solidFill>
                              <a:schemeClr val="tx1"/>
                            </a:solidFill>
                            <a:latin typeface="Cambria Math" panose="02040503050406030204" pitchFamily="18" charset="0"/>
                            <a:ea typeface="+mn-ea"/>
                            <a:cs typeface="+mn-cs"/>
                          </a:rPr>
                          <m:t>𝑐</m:t>
                        </m:r>
                      </m:sub>
                    </m:sSub>
                  </m:oMath>
                </a14:m>
                <a:r>
                  <a:rPr lang="en-IN" dirty="0"/>
                  <a:t>with finite settling often tends to </a:t>
                </a:r>
                <a:r>
                  <a:rPr lang="en-IN" dirty="0" err="1"/>
                  <a:t>favor</a:t>
                </a:r>
                <a:r>
                  <a:rPr lang="en-IN" dirty="0"/>
                  <a:t> </a:t>
                </a:r>
                <a:r>
                  <a:rPr lang="en-IN" b="1" dirty="0"/>
                  <a:t>larger characteristic particle radii</a:t>
                </a:r>
                <a:r>
                  <a:rPr lang="en-IN" dirty="0"/>
                  <a:t> because:</a:t>
                </a:r>
              </a:p>
              <a:p>
                <a:r>
                  <a:rPr lang="en-IN" dirty="0"/>
                  <a:t>larger particles carry more mass efficiently</a:t>
                </a:r>
              </a:p>
              <a:p>
                <a:endParaRPr lang="en-IN" dirty="0"/>
              </a:p>
            </p:txBody>
          </p:sp>
        </mc:Choice>
        <mc:Fallback xmlns="">
          <p:sp>
            <p:nvSpPr>
              <p:cNvPr id="3" name="Notes Placeholder 2"/>
              <p:cNvSpPr>
                <a:spLocks noGrp="1"/>
              </p:cNvSpPr>
              <p:nvPr>
                <p:ph type="body" idx="1"/>
              </p:nvPr>
            </p:nvSpPr>
            <p:spPr/>
            <p:txBody>
              <a:bodyPr/>
              <a:lstStyle/>
              <a:p>
                <a:r>
                  <a:rPr lang="en-US" dirty="0" err="1"/>
                  <a:t>Mh</a:t>
                </a:r>
                <a:r>
                  <a:rPr lang="en-US" dirty="0"/>
                  <a:t> =1 , 0.005 microns, </a:t>
                </a:r>
                <a:r>
                  <a:rPr lang="en-US" dirty="0" err="1"/>
                  <a:t>mh</a:t>
                </a:r>
                <a:r>
                  <a:rPr lang="en-US" dirty="0"/>
                  <a:t> = 10 goes up until 0.015 microns and </a:t>
                </a:r>
                <a:r>
                  <a:rPr lang="en-US" dirty="0" err="1"/>
                  <a:t>mh</a:t>
                </a:r>
                <a:r>
                  <a:rPr lang="en-US" dirty="0"/>
                  <a:t> = 100 goes up to 0.05 microns, more metallicity means more qc which means more condensable material. </a:t>
                </a:r>
                <a:r>
                  <a:rPr lang="en-IN" dirty="0"/>
                  <a:t>But in </a:t>
                </a:r>
                <a:r>
                  <a:rPr lang="en-IN" dirty="0" err="1"/>
                  <a:t>sedimenting</a:t>
                </a:r>
                <a:r>
                  <a:rPr lang="en-IN" dirty="0"/>
                  <a:t> cloud models, larger </a:t>
                </a:r>
                <a:r>
                  <a:rPr lang="ar-AE" sz="1200" i="0" kern="1200">
                    <a:solidFill>
                      <a:schemeClr val="tx1"/>
                    </a:solidFill>
                    <a:latin typeface="+mn-lt"/>
                    <a:ea typeface="+mn-ea"/>
                    <a:cs typeface="+mn-cs"/>
                  </a:rPr>
                  <a:t>𝑞_𝑐</a:t>
                </a:r>
                <a:r>
                  <a:rPr lang="en-IN" dirty="0"/>
                  <a:t>with finite settling often tends to </a:t>
                </a:r>
                <a:r>
                  <a:rPr lang="en-IN" dirty="0" err="1"/>
                  <a:t>favor</a:t>
                </a:r>
                <a:r>
                  <a:rPr lang="en-IN" dirty="0"/>
                  <a:t> </a:t>
                </a:r>
                <a:r>
                  <a:rPr lang="en-IN" b="1" dirty="0"/>
                  <a:t>larger characteristic particle radii</a:t>
                </a:r>
                <a:r>
                  <a:rPr lang="en-IN" dirty="0"/>
                  <a:t> because:</a:t>
                </a:r>
              </a:p>
              <a:p>
                <a:r>
                  <a:rPr lang="en-IN" dirty="0"/>
                  <a:t>larger particles carry more mass efficiently</a:t>
                </a:r>
              </a:p>
              <a:p>
                <a:endParaRPr lang="en-IN" dirty="0"/>
              </a:p>
            </p:txBody>
          </p:sp>
        </mc:Fallback>
      </mc:AlternateContent>
      <p:sp>
        <p:nvSpPr>
          <p:cNvPr id="4" name="Slide Number Placeholder 3"/>
          <p:cNvSpPr>
            <a:spLocks noGrp="1"/>
          </p:cNvSpPr>
          <p:nvPr>
            <p:ph type="sldNum" sz="quarter" idx="5"/>
          </p:nvPr>
        </p:nvSpPr>
        <p:spPr/>
        <p:txBody>
          <a:bodyPr/>
          <a:lstStyle/>
          <a:p>
            <a:fld id="{62C4F202-C536-4C1E-B02E-9DAA1E4F52EA}" type="slidenum">
              <a:rPr lang="en-IN" smtClean="0"/>
              <a:t>16</a:t>
            </a:fld>
            <a:endParaRPr lang="en-IN"/>
          </a:p>
        </p:txBody>
      </p:sp>
    </p:spTree>
    <p:extLst>
      <p:ext uri="{BB962C8B-B14F-4D97-AF65-F5344CB8AC3E}">
        <p14:creationId xmlns:p14="http://schemas.microsoft.com/office/powerpoint/2010/main" val="3515236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metallicity adds </a:t>
            </a:r>
            <a:r>
              <a:rPr lang="en-US" b="1" dirty="0"/>
              <a:t>so much more condensable material</a:t>
            </a:r>
            <a:r>
              <a:rPr lang="en-US" dirty="0"/>
              <a:t> that even though particles become larger, the total integrated particle column still increases larger condensate loading more cloud mass larger integrated particle abundance</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17</a:t>
            </a:fld>
            <a:endParaRPr lang="en-IN"/>
          </a:p>
        </p:txBody>
      </p:sp>
    </p:spTree>
    <p:extLst>
      <p:ext uri="{BB962C8B-B14F-4D97-AF65-F5344CB8AC3E}">
        <p14:creationId xmlns:p14="http://schemas.microsoft.com/office/powerpoint/2010/main" val="2849721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heavy sedimentation term dominates</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19</a:t>
            </a:fld>
            <a:endParaRPr lang="en-IN"/>
          </a:p>
        </p:txBody>
      </p:sp>
    </p:spTree>
    <p:extLst>
      <p:ext uri="{BB962C8B-B14F-4D97-AF65-F5344CB8AC3E}">
        <p14:creationId xmlns:p14="http://schemas.microsoft.com/office/powerpoint/2010/main" val="2104484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Eddies bring different seizes of droplets into contact which leads to collision leading larger particles (many particles sticking together) that eventually settle downward due to sedimentation.</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20</a:t>
            </a:fld>
            <a:endParaRPr lang="en-IN"/>
          </a:p>
        </p:txBody>
      </p:sp>
    </p:spTree>
    <p:extLst>
      <p:ext uri="{BB962C8B-B14F-4D97-AF65-F5344CB8AC3E}">
        <p14:creationId xmlns:p14="http://schemas.microsoft.com/office/powerpoint/2010/main" val="1353399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to analytical solution of the equation for a possible </a:t>
            </a:r>
            <a:r>
              <a:rPr lang="en-US" dirty="0" err="1"/>
              <a:t>explaination</a:t>
            </a:r>
            <a:r>
              <a:rPr lang="en-US" dirty="0"/>
              <a:t>.</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21</a:t>
            </a:fld>
            <a:endParaRPr lang="en-IN"/>
          </a:p>
        </p:txBody>
      </p:sp>
    </p:spTree>
    <p:extLst>
      <p:ext uri="{BB962C8B-B14F-4D97-AF65-F5344CB8AC3E}">
        <p14:creationId xmlns:p14="http://schemas.microsoft.com/office/powerpoint/2010/main" val="2112841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Kzz</a:t>
            </a:r>
            <a:r>
              <a:rPr lang="en-US" dirty="0"/>
              <a:t> controls w* which controls the balance equation of </a:t>
            </a:r>
            <a:r>
              <a:rPr lang="en-US" dirty="0" err="1"/>
              <a:t>vall</a:t>
            </a:r>
            <a:r>
              <a:rPr lang="en-US" dirty="0"/>
              <a:t> and w*, so if L is fixed for atmosphere increasing </a:t>
            </a:r>
            <a:r>
              <a:rPr lang="en-US" dirty="0" err="1"/>
              <a:t>kzz</a:t>
            </a:r>
            <a:r>
              <a:rPr lang="en-US" dirty="0"/>
              <a:t> means increasing </a:t>
            </a:r>
            <a:r>
              <a:rPr lang="en-US" dirty="0" err="1"/>
              <a:t>vfall</a:t>
            </a:r>
            <a:r>
              <a:rPr lang="en-US" dirty="0"/>
              <a:t> which is increased through increase in </a:t>
            </a:r>
            <a:r>
              <a:rPr lang="en-US" dirty="0" err="1"/>
              <a:t>rw</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22</a:t>
            </a:fld>
            <a:endParaRPr lang="en-IN"/>
          </a:p>
        </p:txBody>
      </p:sp>
    </p:spTree>
    <p:extLst>
      <p:ext uri="{BB962C8B-B14F-4D97-AF65-F5344CB8AC3E}">
        <p14:creationId xmlns:p14="http://schemas.microsoft.com/office/powerpoint/2010/main" val="117613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Rw</a:t>
            </a:r>
            <a:r>
              <a:rPr lang="en-US" dirty="0"/>
              <a:t> influences </a:t>
            </a:r>
            <a:r>
              <a:rPr lang="en-US" dirty="0" err="1"/>
              <a:t>rg</a:t>
            </a:r>
            <a:r>
              <a:rPr lang="en-US" dirty="0"/>
              <a:t>, </a:t>
            </a:r>
            <a:r>
              <a:rPr lang="en-US" dirty="0" err="1"/>
              <a:t>ndz</a:t>
            </a:r>
            <a:r>
              <a:rPr lang="en-US" dirty="0"/>
              <a:t> is 1/ </a:t>
            </a:r>
            <a:r>
              <a:rPr lang="en-US" dirty="0" err="1"/>
              <a:t>rg</a:t>
            </a:r>
            <a:r>
              <a:rPr lang="en-US" dirty="0"/>
              <a:t> cube</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23</a:t>
            </a:fld>
            <a:endParaRPr lang="en-IN"/>
          </a:p>
        </p:txBody>
      </p:sp>
    </p:spTree>
    <p:extLst>
      <p:ext uri="{BB962C8B-B14F-4D97-AF65-F5344CB8AC3E}">
        <p14:creationId xmlns:p14="http://schemas.microsoft.com/office/powerpoint/2010/main" val="1703892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Forward model:</a:t>
            </a:r>
            <a:r>
              <a:rPr lang="en-US" dirty="0"/>
              <a:t> predicts the spectrum from a given set of atmospheric parameters. </a:t>
            </a:r>
            <a:r>
              <a:rPr lang="en-US" b="1" dirty="0"/>
              <a:t>Retrieval model:</a:t>
            </a:r>
            <a:r>
              <a:rPr lang="en-US" dirty="0"/>
              <a:t> infers the atmospheric parameters by fitting a model spectrum to the observed spectrum.</a:t>
            </a:r>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26</a:t>
            </a:fld>
            <a:endParaRPr lang="en-IN"/>
          </a:p>
        </p:txBody>
      </p:sp>
    </p:spTree>
    <p:extLst>
      <p:ext uri="{BB962C8B-B14F-4D97-AF65-F5344CB8AC3E}">
        <p14:creationId xmlns:p14="http://schemas.microsoft.com/office/powerpoint/2010/main" val="41671465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C4F202-C536-4C1E-B02E-9DAA1E4F52EA}" type="slidenum">
              <a:rPr lang="en-IN" smtClean="0"/>
              <a:t>33</a:t>
            </a:fld>
            <a:endParaRPr lang="en-IN"/>
          </a:p>
        </p:txBody>
      </p:sp>
    </p:spTree>
    <p:extLst>
      <p:ext uri="{BB962C8B-B14F-4D97-AF65-F5344CB8AC3E}">
        <p14:creationId xmlns:p14="http://schemas.microsoft.com/office/powerpoint/2010/main" val="2667645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13676-F61C-BE46-799E-26CE81D21D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E33469-156C-08FE-D687-6619EE24BA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E5CCF5-7031-BB7B-5D31-73190D8B6362}"/>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5" name="Footer Placeholder 4">
            <a:extLst>
              <a:ext uri="{FF2B5EF4-FFF2-40B4-BE49-F238E27FC236}">
                <a16:creationId xmlns:a16="http://schemas.microsoft.com/office/drawing/2014/main" id="{269A184B-DC99-AD09-5068-F6A89034E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48DD49-B59E-2D2A-126E-C3B5EF0B5C05}"/>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4161608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2B16-4DD6-C6C2-DCB9-C3E79F52EC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58F268-73B0-4C1B-76C9-5D3EB9FC60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D0E98A-D71E-CBCB-D01C-42C046956FFC}"/>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5" name="Footer Placeholder 4">
            <a:extLst>
              <a:ext uri="{FF2B5EF4-FFF2-40B4-BE49-F238E27FC236}">
                <a16:creationId xmlns:a16="http://schemas.microsoft.com/office/drawing/2014/main" id="{A01DBE3B-D060-8842-8DEA-DEC00E8855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4AE503-40AC-2C84-867B-2C94EEFBAEB4}"/>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325457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6034-B299-942A-C0FE-FCA62EF85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B5AC488-F9FC-0143-BE04-1741629B7F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4CE23F-3DE1-5022-B032-3601535C9C16}"/>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5" name="Footer Placeholder 4">
            <a:extLst>
              <a:ext uri="{FF2B5EF4-FFF2-40B4-BE49-F238E27FC236}">
                <a16:creationId xmlns:a16="http://schemas.microsoft.com/office/drawing/2014/main" id="{BC56AF00-4A59-B34D-B773-5AA4F9CA52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106A4D-BD0E-DC45-8294-CF02024629B8}"/>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2430558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52D7D-4C50-4250-0754-BF2A3050A8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D74A2F-C4A9-CAEB-4659-C46D9CA028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DEC286-50B5-A128-1B61-72A7C5733A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D4F617-7D41-EC21-E5CA-8305B1BD722D}"/>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6" name="Footer Placeholder 5">
            <a:extLst>
              <a:ext uri="{FF2B5EF4-FFF2-40B4-BE49-F238E27FC236}">
                <a16:creationId xmlns:a16="http://schemas.microsoft.com/office/drawing/2014/main" id="{A8132367-E444-2F69-2035-809E6C8E74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1F98D9-DC0A-93B9-66FA-C6A6389261A1}"/>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843217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47588-33AD-E224-CEAB-8AFB3F4588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B51ADD-59DC-7D6B-0953-30FCEB05B2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A3E696-4519-D6A1-FC87-8047F88C4A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690DEE-2F4B-1959-4AAD-095E87544E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00B689-FDA0-CB7D-BAE3-4FF4083DCD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96755D-1E3C-8A29-B1F9-D224E2AD076C}"/>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8" name="Footer Placeholder 7">
            <a:extLst>
              <a:ext uri="{FF2B5EF4-FFF2-40B4-BE49-F238E27FC236}">
                <a16:creationId xmlns:a16="http://schemas.microsoft.com/office/drawing/2014/main" id="{672340FC-917F-C33F-1DCA-EDF0097F12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696C839-C32B-B4CB-0331-9BA1C91C6EC2}"/>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406529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2E0C-44C5-4C0C-6524-C900ABF045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70104D-3831-EF77-C743-35DE28567CFC}"/>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4" name="Footer Placeholder 3">
            <a:extLst>
              <a:ext uri="{FF2B5EF4-FFF2-40B4-BE49-F238E27FC236}">
                <a16:creationId xmlns:a16="http://schemas.microsoft.com/office/drawing/2014/main" id="{CB50678B-5EEC-AF01-BFA4-94AA905CCFE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28ADC6-AFC8-06BF-D8A3-490EFBECA1B9}"/>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3565445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DD7B2-BA5B-0B5B-04F3-0F379163C122}"/>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3" name="Footer Placeholder 2">
            <a:extLst>
              <a:ext uri="{FF2B5EF4-FFF2-40B4-BE49-F238E27FC236}">
                <a16:creationId xmlns:a16="http://schemas.microsoft.com/office/drawing/2014/main" id="{DC78D1BD-868B-19B0-9A91-E5BCAE4510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65F190-7735-8DE9-F1AD-8643823531CA}"/>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85705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6C3D-FF4C-B78A-B0B2-C0B9BFC006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721FB6-CD67-F5CD-8A44-0B19C3874A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F23E56-2EA4-255E-6DFD-320EEE689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8D9CD-8C00-F17D-43F7-D4019437B953}"/>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6" name="Footer Placeholder 5">
            <a:extLst>
              <a:ext uri="{FF2B5EF4-FFF2-40B4-BE49-F238E27FC236}">
                <a16:creationId xmlns:a16="http://schemas.microsoft.com/office/drawing/2014/main" id="{F895AC39-749E-5853-EFB5-E0BA00B926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7B3AE4-6DD9-DB53-E615-7A4479384C2E}"/>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3703484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42C3-4B3C-F031-BB64-3A7A25DD3D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6E24E8-185E-0C13-77A6-633AC523BE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CB0234-A30F-F60E-569F-B9E1B358C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22A56A-205F-285E-EF04-A522FF63AAB4}"/>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6" name="Footer Placeholder 5">
            <a:extLst>
              <a:ext uri="{FF2B5EF4-FFF2-40B4-BE49-F238E27FC236}">
                <a16:creationId xmlns:a16="http://schemas.microsoft.com/office/drawing/2014/main" id="{8BE89BA1-1187-FD3F-830D-FC950C634A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B8F255-987D-9BBF-5F2F-5019F3F9D61E}"/>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2488096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32796-B879-81B8-AA66-6D5F1954FB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E9AF32-1448-1748-1536-30499EB3E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C847C8-06AE-8644-C60E-8C2235E301AD}"/>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5" name="Footer Placeholder 4">
            <a:extLst>
              <a:ext uri="{FF2B5EF4-FFF2-40B4-BE49-F238E27FC236}">
                <a16:creationId xmlns:a16="http://schemas.microsoft.com/office/drawing/2014/main" id="{9EB4D781-2067-0FDB-44E2-74ECCEFB9B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027C6F-427A-2A43-FFB0-AF01167192F3}"/>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4125277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7BD860-F1AE-99F7-4ACE-B3A0D5D412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33D5CBC-A1E4-BA5E-1C6C-2DF6A12A9B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8CF0A7-4495-5DF7-2DAA-E81A38E0B3C1}"/>
              </a:ext>
            </a:extLst>
          </p:cNvPr>
          <p:cNvSpPr>
            <a:spLocks noGrp="1"/>
          </p:cNvSpPr>
          <p:nvPr>
            <p:ph type="dt" sz="half" idx="10"/>
          </p:nvPr>
        </p:nvSpPr>
        <p:spPr/>
        <p:txBody>
          <a:bodyPr/>
          <a:lstStyle/>
          <a:p>
            <a:fld id="{D21789DC-B0E6-4CAA-8D2C-66ECE04062AF}" type="datetimeFigureOut">
              <a:rPr lang="en-IN" smtClean="0"/>
              <a:t>16-05-2026</a:t>
            </a:fld>
            <a:endParaRPr lang="en-IN"/>
          </a:p>
        </p:txBody>
      </p:sp>
      <p:sp>
        <p:nvSpPr>
          <p:cNvPr id="5" name="Footer Placeholder 4">
            <a:extLst>
              <a:ext uri="{FF2B5EF4-FFF2-40B4-BE49-F238E27FC236}">
                <a16:creationId xmlns:a16="http://schemas.microsoft.com/office/drawing/2014/main" id="{F6D1B8B0-8975-8A1D-B535-4A599F514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66C91-E995-3CDF-20D8-593C7E9EE13E}"/>
              </a:ext>
            </a:extLst>
          </p:cNvPr>
          <p:cNvSpPr>
            <a:spLocks noGrp="1"/>
          </p:cNvSpPr>
          <p:nvPr>
            <p:ph type="sldNum" sz="quarter" idx="12"/>
          </p:nvPr>
        </p:nvSpPr>
        <p:spPr/>
        <p:txBody>
          <a:bodyPr/>
          <a:lstStyle/>
          <a:p>
            <a:fld id="{0C04CB70-0A63-4F55-8A0D-398375AC7784}" type="slidenum">
              <a:rPr lang="en-IN" smtClean="0"/>
              <a:t>‹#›</a:t>
            </a:fld>
            <a:endParaRPr lang="en-IN"/>
          </a:p>
        </p:txBody>
      </p:sp>
    </p:spTree>
    <p:extLst>
      <p:ext uri="{BB962C8B-B14F-4D97-AF65-F5344CB8AC3E}">
        <p14:creationId xmlns:p14="http://schemas.microsoft.com/office/powerpoint/2010/main" val="4131669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C6E304-F63D-D250-BCB7-E8F316F28D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96D4A2-D4A3-5567-015C-B3A30A159A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75E022-0082-73CC-74FC-C658BE8233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1789DC-B0E6-4CAA-8D2C-66ECE04062AF}" type="datetimeFigureOut">
              <a:rPr lang="en-IN" smtClean="0"/>
              <a:t>16-05-2026</a:t>
            </a:fld>
            <a:endParaRPr lang="en-IN"/>
          </a:p>
        </p:txBody>
      </p:sp>
      <p:sp>
        <p:nvSpPr>
          <p:cNvPr id="5" name="Footer Placeholder 4">
            <a:extLst>
              <a:ext uri="{FF2B5EF4-FFF2-40B4-BE49-F238E27FC236}">
                <a16:creationId xmlns:a16="http://schemas.microsoft.com/office/drawing/2014/main" id="{D53C8046-B111-DD17-4FA9-9C7369306E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28536DD-31AE-50B6-0826-7BC00A0917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4CB70-0A63-4F55-8A0D-398375AC7784}" type="slidenum">
              <a:rPr lang="en-IN" smtClean="0"/>
              <a:t>‹#›</a:t>
            </a:fld>
            <a:endParaRPr lang="en-IN"/>
          </a:p>
        </p:txBody>
      </p:sp>
    </p:spTree>
    <p:extLst>
      <p:ext uri="{BB962C8B-B14F-4D97-AF65-F5344CB8AC3E}">
        <p14:creationId xmlns:p14="http://schemas.microsoft.com/office/powerpoint/2010/main" val="2422342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6.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customXml" Target="../ink/ink1.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image" Target="../media/image220.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customXml" Target="../ink/ink6.xml"/><Relationship Id="rId4" Type="http://schemas.openxmlformats.org/officeDocument/2006/relationships/image" Target="../media/image220.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www.google.com/search?q=Bogacki-Shampine+method&amp;oq=RK+23+method&amp;gs_lcrp=EgZjaHJvbWUyCQgAEEUYORigATIHCAEQIRigATIGCAIQIRgVMgcIAxAhGJ8FMgcIBBAhGJ8FMgcIBRAhGJ8FMgcIBhAhGJ8F0gEIMzAyNWowajeoAgCwAgA&amp;sourceid=chrome&amp;ie=UTF-8&amp;mstk=AUtExfCCZqaggFmwcE34DPAjcTB2qPwK1YmoQsxEjZAcaP0pJagZvId11QaK5xuiT8PN64ueGRu-JboxMWyPPShZcxkfEMBUH_JlMDsSjPKmgs9uncHxiBFNNyTXmtlatUcfhgJ-NqUalE7SrbUbVKG5nq8XHM8XkzPlgevus7JsaIylym0&amp;csui=3&amp;ved=2ahUKEwjPuJy9qJCUAxW4nmMGHVmrMnYQgK4QegQIARAB"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29D8-6936-C754-418B-DE9E13EA864C}"/>
              </a:ext>
            </a:extLst>
          </p:cNvPr>
          <p:cNvSpPr>
            <a:spLocks noGrp="1"/>
          </p:cNvSpPr>
          <p:nvPr>
            <p:ph type="ctrTitle"/>
          </p:nvPr>
        </p:nvSpPr>
        <p:spPr>
          <a:xfrm>
            <a:off x="1524000" y="2990475"/>
            <a:ext cx="8616593" cy="877049"/>
          </a:xfrm>
        </p:spPr>
        <p:txBody>
          <a:bodyPr>
            <a:normAutofit fontScale="90000"/>
          </a:bodyPr>
          <a:lstStyle/>
          <a:p>
            <a:br>
              <a:rPr lang="en-US" sz="2800"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SOUMI MANDAL</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School of Physical Sciences</a:t>
            </a:r>
            <a:br>
              <a:rPr lang="en-US" sz="2800" dirty="0">
                <a:latin typeface="Arial" panose="020B0604020202020204" pitchFamily="34" charset="0"/>
                <a:cs typeface="Arial" panose="020B0604020202020204" pitchFamily="34" charset="0"/>
              </a:rPr>
            </a:br>
            <a:r>
              <a:rPr lang="en-US" sz="2800" dirty="0">
                <a:latin typeface="Arial" panose="020B0604020202020204" pitchFamily="34" charset="0"/>
                <a:cs typeface="Arial" panose="020B0604020202020204" pitchFamily="34" charset="0"/>
              </a:rPr>
              <a:t>School of Earth and Planetary Sciences</a:t>
            </a:r>
            <a:endParaRPr lang="en-IN" sz="28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757546C9-7B04-CF1E-C677-2357929B3297}"/>
              </a:ext>
            </a:extLst>
          </p:cNvPr>
          <p:cNvSpPr>
            <a:spLocks noGrp="1"/>
          </p:cNvSpPr>
          <p:nvPr>
            <p:ph type="subTitle" idx="1"/>
          </p:nvPr>
        </p:nvSpPr>
        <p:spPr>
          <a:xfrm>
            <a:off x="1448655" y="4484670"/>
            <a:ext cx="9144000" cy="1655762"/>
          </a:xfrm>
        </p:spPr>
        <p:txBody>
          <a:bodyPr>
            <a:normAutofit lnSpcReduction="10000"/>
          </a:bodyPr>
          <a:lstStyle/>
          <a:p>
            <a:r>
              <a:rPr lang="en-US" dirty="0"/>
              <a:t>Supervisor – Dr. Jayesh M. Goyal</a:t>
            </a:r>
          </a:p>
          <a:p>
            <a:r>
              <a:rPr lang="en-US" dirty="0"/>
              <a:t>Co- Supervisor – Dr. Luke </a:t>
            </a:r>
            <a:r>
              <a:rPr lang="en-US" dirty="0" err="1"/>
              <a:t>Chamandy</a:t>
            </a:r>
            <a:endParaRPr lang="en-US" dirty="0"/>
          </a:p>
          <a:p>
            <a:r>
              <a:rPr lang="en-IN" dirty="0"/>
              <a:t>Physics Dissertation Project- II (P599) - Spring, 2026</a:t>
            </a:r>
          </a:p>
          <a:p>
            <a:r>
              <a:rPr lang="en-IN" dirty="0"/>
              <a:t>29</a:t>
            </a:r>
            <a:r>
              <a:rPr lang="en-IN" baseline="30000" dirty="0"/>
              <a:t>th</a:t>
            </a:r>
            <a:r>
              <a:rPr lang="en-IN" dirty="0"/>
              <a:t> April 2026</a:t>
            </a:r>
            <a:endParaRPr lang="en-US" dirty="0"/>
          </a:p>
        </p:txBody>
      </p:sp>
      <p:sp>
        <p:nvSpPr>
          <p:cNvPr id="4" name="Rectangle 3">
            <a:extLst>
              <a:ext uri="{FF2B5EF4-FFF2-40B4-BE49-F238E27FC236}">
                <a16:creationId xmlns:a16="http://schemas.microsoft.com/office/drawing/2014/main" id="{67ED272D-8A76-E662-7765-6D76B6EE8C60}"/>
              </a:ext>
            </a:extLst>
          </p:cNvPr>
          <p:cNvSpPr/>
          <p:nvPr/>
        </p:nvSpPr>
        <p:spPr>
          <a:xfrm>
            <a:off x="1448655" y="1122362"/>
            <a:ext cx="9144001" cy="125096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rial" panose="020B0604020202020204" pitchFamily="34" charset="0"/>
                <a:cs typeface="Arial" panose="020B0604020202020204" pitchFamily="34" charset="0"/>
              </a:rPr>
              <a:t>Modelling Clouds in Exo- Planetary Atmospheres</a:t>
            </a:r>
            <a:endParaRPr lang="en-IN" sz="3600" dirty="0">
              <a:solidFill>
                <a:schemeClr val="tx1"/>
              </a:solidFill>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1C88BB56-5EE4-2623-B3C5-4DF380BFF4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2512" y="4805178"/>
            <a:ext cx="1900719" cy="20451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9959F2F-4C55-9A77-710E-0ADADC3AE0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69" y="4511154"/>
            <a:ext cx="2400026" cy="2246424"/>
          </a:xfrm>
          <a:prstGeom prst="rect">
            <a:avLst/>
          </a:prstGeom>
        </p:spPr>
      </p:pic>
    </p:spTree>
    <p:extLst>
      <p:ext uri="{BB962C8B-B14F-4D97-AF65-F5344CB8AC3E}">
        <p14:creationId xmlns:p14="http://schemas.microsoft.com/office/powerpoint/2010/main" val="2130221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30194-779A-382E-E97A-A0FE90FD6A2E}"/>
              </a:ext>
            </a:extLst>
          </p:cNvPr>
          <p:cNvSpPr>
            <a:spLocks noGrp="1"/>
          </p:cNvSpPr>
          <p:nvPr>
            <p:ph type="title"/>
          </p:nvPr>
        </p:nvSpPr>
        <p:spPr/>
        <p:txBody>
          <a:bodyPr/>
          <a:lstStyle/>
          <a:p>
            <a:r>
              <a:rPr lang="en-US" b="1" dirty="0">
                <a:solidFill>
                  <a:schemeClr val="accent1"/>
                </a:solidFill>
              </a:rPr>
              <a:t>Overview</a:t>
            </a:r>
            <a:endParaRPr lang="en-IN" b="1" dirty="0">
              <a:solidFill>
                <a:schemeClr val="accent1"/>
              </a:solidFill>
            </a:endParaRPr>
          </a:p>
        </p:txBody>
      </p:sp>
      <p:sp>
        <p:nvSpPr>
          <p:cNvPr id="3" name="Content Placeholder 2">
            <a:extLst>
              <a:ext uri="{FF2B5EF4-FFF2-40B4-BE49-F238E27FC236}">
                <a16:creationId xmlns:a16="http://schemas.microsoft.com/office/drawing/2014/main" id="{3D3C9BA9-5625-6248-78E6-0E310C44995F}"/>
              </a:ext>
            </a:extLst>
          </p:cNvPr>
          <p:cNvSpPr>
            <a:spLocks noGrp="1"/>
          </p:cNvSpPr>
          <p:nvPr>
            <p:ph idx="1"/>
          </p:nvPr>
        </p:nvSpPr>
        <p:spPr/>
        <p:txBody>
          <a:bodyPr/>
          <a:lstStyle/>
          <a:p>
            <a:r>
              <a:rPr lang="en-US" dirty="0"/>
              <a:t>Motivation – the big picture</a:t>
            </a:r>
          </a:p>
          <a:p>
            <a:r>
              <a:rPr lang="en-US" dirty="0"/>
              <a:t>Recap of equation</a:t>
            </a:r>
          </a:p>
          <a:p>
            <a:r>
              <a:rPr lang="en-US" dirty="0"/>
              <a:t>Code Workflow</a:t>
            </a:r>
          </a:p>
          <a:p>
            <a:r>
              <a:rPr lang="en-US" dirty="0"/>
              <a:t>Improvement over previous work – NH</a:t>
            </a:r>
            <a:r>
              <a:rPr lang="en-US" baseline="-25000" dirty="0"/>
              <a:t>3</a:t>
            </a:r>
            <a:r>
              <a:rPr lang="en-US" dirty="0"/>
              <a:t> clouds in Jupiter</a:t>
            </a:r>
          </a:p>
          <a:p>
            <a:r>
              <a:rPr lang="en-US" dirty="0"/>
              <a:t>WASP – 17b – work with SiO</a:t>
            </a:r>
            <a:r>
              <a:rPr lang="en-US" baseline="-25000" dirty="0"/>
              <a:t>2</a:t>
            </a:r>
            <a:r>
              <a:rPr lang="en-US" dirty="0"/>
              <a:t> and Al</a:t>
            </a:r>
            <a:r>
              <a:rPr lang="en-US" baseline="-25000" dirty="0"/>
              <a:t>2</a:t>
            </a:r>
            <a:r>
              <a:rPr lang="en-US" dirty="0"/>
              <a:t>O</a:t>
            </a:r>
            <a:r>
              <a:rPr lang="en-US" baseline="-25000" dirty="0"/>
              <a:t>3</a:t>
            </a:r>
            <a:r>
              <a:rPr lang="en-US" dirty="0"/>
              <a:t> molecules</a:t>
            </a:r>
          </a:p>
          <a:p>
            <a:r>
              <a:rPr lang="en-US" dirty="0"/>
              <a:t>Summary</a:t>
            </a:r>
          </a:p>
          <a:p>
            <a:r>
              <a:rPr lang="en-US" dirty="0"/>
              <a:t>Scope of Future work</a:t>
            </a:r>
          </a:p>
          <a:p>
            <a:endParaRPr lang="en-IN" dirty="0"/>
          </a:p>
        </p:txBody>
      </p:sp>
    </p:spTree>
    <p:extLst>
      <p:ext uri="{BB962C8B-B14F-4D97-AF65-F5344CB8AC3E}">
        <p14:creationId xmlns:p14="http://schemas.microsoft.com/office/powerpoint/2010/main" val="1960315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D9518-958C-74C7-C126-50FE4F769C45}"/>
              </a:ext>
            </a:extLst>
          </p:cNvPr>
          <p:cNvSpPr>
            <a:spLocks noGrp="1"/>
          </p:cNvSpPr>
          <p:nvPr>
            <p:ph type="title"/>
          </p:nvPr>
        </p:nvSpPr>
        <p:spPr/>
        <p:txBody>
          <a:bodyPr/>
          <a:lstStyle/>
          <a:p>
            <a:r>
              <a:rPr lang="en-US" b="1" dirty="0">
                <a:solidFill>
                  <a:schemeClr val="accent1"/>
                </a:solidFill>
              </a:rPr>
              <a:t>Why are clouds important for study?</a:t>
            </a:r>
            <a:br>
              <a:rPr lang="en-US" dirty="0"/>
            </a:br>
            <a:endParaRPr lang="en-IN" dirty="0"/>
          </a:p>
        </p:txBody>
      </p:sp>
      <p:sp>
        <p:nvSpPr>
          <p:cNvPr id="11" name="TextBox 10">
            <a:extLst>
              <a:ext uri="{FF2B5EF4-FFF2-40B4-BE49-F238E27FC236}">
                <a16:creationId xmlns:a16="http://schemas.microsoft.com/office/drawing/2014/main" id="{6B4CA455-68FB-C0EE-4090-E17F4AEC5C00}"/>
              </a:ext>
            </a:extLst>
          </p:cNvPr>
          <p:cNvSpPr txBox="1"/>
          <p:nvPr/>
        </p:nvSpPr>
        <p:spPr>
          <a:xfrm>
            <a:off x="612169" y="1571946"/>
            <a:ext cx="4483813" cy="223984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Albedo</a:t>
            </a:r>
          </a:p>
          <a:p>
            <a:pPr marL="285750" indent="-28575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Spectra</a:t>
            </a:r>
          </a:p>
          <a:p>
            <a:pPr marL="285750" indent="-28575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Climate</a:t>
            </a:r>
          </a:p>
          <a:p>
            <a:pPr marL="285750" indent="-285750">
              <a:lnSpc>
                <a:spcPct val="150000"/>
              </a:lnSpc>
              <a:buFont typeface="Arial" panose="020B0604020202020204" pitchFamily="34" charset="0"/>
              <a:buChar char="•"/>
            </a:pPr>
            <a:r>
              <a:rPr lang="en-US" sz="2400" dirty="0">
                <a:latin typeface="Arial" panose="020B0604020202020204" pitchFamily="34" charset="0"/>
                <a:cs typeface="Arial" panose="020B0604020202020204" pitchFamily="34" charset="0"/>
              </a:rPr>
              <a:t>Habitability</a:t>
            </a:r>
          </a:p>
        </p:txBody>
      </p:sp>
      <p:pic>
        <p:nvPicPr>
          <p:cNvPr id="5" name="Content Placeholder 4">
            <a:extLst>
              <a:ext uri="{FF2B5EF4-FFF2-40B4-BE49-F238E27FC236}">
                <a16:creationId xmlns:a16="http://schemas.microsoft.com/office/drawing/2014/main" id="{AFD17A69-EDC2-8640-4960-EDFD4C2284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71943" y="1007881"/>
            <a:ext cx="9364929" cy="5047422"/>
          </a:xfrm>
        </p:spPr>
      </p:pic>
      <p:graphicFrame>
        <p:nvGraphicFramePr>
          <p:cNvPr id="7" name="Table 6">
            <a:extLst>
              <a:ext uri="{FF2B5EF4-FFF2-40B4-BE49-F238E27FC236}">
                <a16:creationId xmlns:a16="http://schemas.microsoft.com/office/drawing/2014/main" id="{1541FF52-85C7-F31C-4494-75DBCDB463E9}"/>
              </a:ext>
            </a:extLst>
          </p:cNvPr>
          <p:cNvGraphicFramePr>
            <a:graphicFrameLocks noGrp="1"/>
          </p:cNvGraphicFramePr>
          <p:nvPr>
            <p:extLst>
              <p:ext uri="{D42A27DB-BD31-4B8C-83A1-F6EECF244321}">
                <p14:modId xmlns:p14="http://schemas.microsoft.com/office/powerpoint/2010/main" val="3744798103"/>
              </p:ext>
            </p:extLst>
          </p:nvPr>
        </p:nvGraphicFramePr>
        <p:xfrm>
          <a:off x="4787553" y="6172835"/>
          <a:ext cx="7050668" cy="640080"/>
        </p:xfrm>
        <a:graphic>
          <a:graphicData uri="http://schemas.openxmlformats.org/drawingml/2006/table">
            <a:tbl>
              <a:tblPr/>
              <a:tblGrid>
                <a:gridCol w="3525334">
                  <a:extLst>
                    <a:ext uri="{9D8B030D-6E8A-4147-A177-3AD203B41FA5}">
                      <a16:colId xmlns:a16="http://schemas.microsoft.com/office/drawing/2014/main" val="3938949029"/>
                    </a:ext>
                  </a:extLst>
                </a:gridCol>
                <a:gridCol w="3525334">
                  <a:extLst>
                    <a:ext uri="{9D8B030D-6E8A-4147-A177-3AD203B41FA5}">
                      <a16:colId xmlns:a16="http://schemas.microsoft.com/office/drawing/2014/main" val="2296357591"/>
                    </a:ext>
                  </a:extLst>
                </a:gridCol>
              </a:tblGrid>
              <a:tr h="615958">
                <a:tc>
                  <a:txBody>
                    <a:bodyPr/>
                    <a:lstStyle/>
                    <a:p>
                      <a:pPr>
                        <a:buNone/>
                      </a:pPr>
                      <a:r>
                        <a:rPr lang="en-US" dirty="0"/>
                        <a:t>Saturn in Infrared from Cassini’s Visual in 2008</a:t>
                      </a:r>
                      <a:endParaRPr lang="en-IN" dirty="0"/>
                    </a:p>
                  </a:txBody>
                  <a:tcPr anchor="ctr">
                    <a:lnL>
                      <a:noFill/>
                    </a:lnL>
                    <a:lnR>
                      <a:noFill/>
                    </a:lnR>
                    <a:lnT>
                      <a:noFill/>
                    </a:lnT>
                    <a:lnB>
                      <a:noFill/>
                    </a:lnB>
                    <a:noFill/>
                  </a:tcPr>
                </a:tc>
                <a:tc>
                  <a:txBody>
                    <a:bodyPr/>
                    <a:lstStyle/>
                    <a:p>
                      <a:pPr>
                        <a:buNone/>
                      </a:pPr>
                      <a:r>
                        <a:rPr lang="en-US" dirty="0"/>
                        <a:t>NASA/JPL/ASI/University of Arizona</a:t>
                      </a:r>
                    </a:p>
                  </a:txBody>
                  <a:tcPr anchor="ctr">
                    <a:lnL>
                      <a:noFill/>
                    </a:lnL>
                    <a:lnR>
                      <a:noFill/>
                    </a:lnR>
                    <a:lnT>
                      <a:noFill/>
                    </a:lnT>
                    <a:lnB>
                      <a:noFill/>
                    </a:lnB>
                    <a:noFill/>
                  </a:tcPr>
                </a:tc>
                <a:extLst>
                  <a:ext uri="{0D108BD9-81ED-4DB2-BD59-A6C34878D82A}">
                    <a16:rowId xmlns:a16="http://schemas.microsoft.com/office/drawing/2014/main" val="849304684"/>
                  </a:ext>
                </a:extLst>
              </a:tr>
            </a:tbl>
          </a:graphicData>
        </a:graphic>
      </p:graphicFrame>
    </p:spTree>
    <p:extLst>
      <p:ext uri="{BB962C8B-B14F-4D97-AF65-F5344CB8AC3E}">
        <p14:creationId xmlns:p14="http://schemas.microsoft.com/office/powerpoint/2010/main" val="255719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DA4F7-070B-FF9D-9981-A974F9B82C7C}"/>
              </a:ext>
            </a:extLst>
          </p:cNvPr>
          <p:cNvSpPr>
            <a:spLocks noGrp="1"/>
          </p:cNvSpPr>
          <p:nvPr>
            <p:ph type="title"/>
          </p:nvPr>
        </p:nvSpPr>
        <p:spPr/>
        <p:txBody>
          <a:bodyPr/>
          <a:lstStyle/>
          <a:p>
            <a:r>
              <a:rPr lang="en-US" b="1" dirty="0">
                <a:solidFill>
                  <a:schemeClr val="accent1"/>
                </a:solidFill>
              </a:rPr>
              <a:t>Ackerman and Marley Cloud model</a:t>
            </a:r>
            <a:endParaRPr lang="en-IN" b="1" dirty="0">
              <a:solidFill>
                <a:schemeClr val="accent1"/>
              </a:solidFill>
            </a:endParaRPr>
          </a:p>
        </p:txBody>
      </p:sp>
      <p:sp>
        <p:nvSpPr>
          <p:cNvPr id="3" name="Text Placeholder 2">
            <a:extLst>
              <a:ext uri="{FF2B5EF4-FFF2-40B4-BE49-F238E27FC236}">
                <a16:creationId xmlns:a16="http://schemas.microsoft.com/office/drawing/2014/main" id="{79EBFB3A-C16E-DDCE-27C1-FA4289D93DB0}"/>
              </a:ext>
            </a:extLst>
          </p:cNvPr>
          <p:cNvSpPr>
            <a:spLocks noGrp="1"/>
          </p:cNvSpPr>
          <p:nvPr>
            <p:ph type="body" idx="1"/>
          </p:nvPr>
        </p:nvSpPr>
        <p:spPr/>
        <p:txBody>
          <a:bodyPr/>
          <a:lstStyle/>
          <a:p>
            <a:endParaRPr lang="en-IN" dirty="0"/>
          </a:p>
        </p:txBody>
      </p:sp>
      <p:sp>
        <p:nvSpPr>
          <p:cNvPr id="5" name="Text Placeholder 4">
            <a:extLst>
              <a:ext uri="{FF2B5EF4-FFF2-40B4-BE49-F238E27FC236}">
                <a16:creationId xmlns:a16="http://schemas.microsoft.com/office/drawing/2014/main" id="{57C2C3BB-2ECF-1B50-2A86-085629708AA4}"/>
              </a:ext>
            </a:extLst>
          </p:cNvPr>
          <p:cNvSpPr>
            <a:spLocks noGrp="1"/>
          </p:cNvSpPr>
          <p:nvPr>
            <p:ph type="body" sz="quarter" idx="3"/>
          </p:nvPr>
        </p:nvSpPr>
        <p:spPr/>
        <p:txBody>
          <a:bodyPr/>
          <a:lstStyle/>
          <a:p>
            <a:endParaRPr lang="en-IN"/>
          </a:p>
        </p:txBody>
      </p:sp>
      <p:pic>
        <p:nvPicPr>
          <p:cNvPr id="10" name="Content Placeholder 9">
            <a:extLst>
              <a:ext uri="{FF2B5EF4-FFF2-40B4-BE49-F238E27FC236}">
                <a16:creationId xmlns:a16="http://schemas.microsoft.com/office/drawing/2014/main" id="{1528710E-963D-CD5F-B7A6-10B4708BAB2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rcRect l="28017" t="9608" r="9488" b="19566"/>
          <a:stretch>
            <a:fillRect/>
          </a:stretch>
        </p:blipFill>
        <p:spPr>
          <a:xfrm>
            <a:off x="6530368" y="1690688"/>
            <a:ext cx="5736975" cy="4332820"/>
          </a:xfrm>
        </p:spPr>
      </p:pic>
      <p:sp>
        <p:nvSpPr>
          <p:cNvPr id="6" name="Content Placeholder 5">
            <a:extLst>
              <a:ext uri="{FF2B5EF4-FFF2-40B4-BE49-F238E27FC236}">
                <a16:creationId xmlns:a16="http://schemas.microsoft.com/office/drawing/2014/main" id="{B7ECD419-43E5-737B-B3C2-19E9EA49337F}"/>
              </a:ext>
            </a:extLst>
          </p:cNvPr>
          <p:cNvSpPr>
            <a:spLocks noGrp="1"/>
          </p:cNvSpPr>
          <p:nvPr>
            <p:ph sz="half" idx="2"/>
          </p:nvPr>
        </p:nvSpPr>
        <p:spPr/>
        <p:txBody>
          <a:bodyPr/>
          <a:lstStyle/>
          <a:p>
            <a:endParaRPr lang="en-IN"/>
          </a:p>
        </p:txBody>
      </p:sp>
      <p:pic>
        <p:nvPicPr>
          <p:cNvPr id="9" name="Picture 8">
            <a:extLst>
              <a:ext uri="{FF2B5EF4-FFF2-40B4-BE49-F238E27FC236}">
                <a16:creationId xmlns:a16="http://schemas.microsoft.com/office/drawing/2014/main" id="{68C2E4E8-C172-A68C-23BF-F8C20255711E}"/>
              </a:ext>
            </a:extLst>
          </p:cNvPr>
          <p:cNvPicPr>
            <a:picLocks noChangeAspect="1"/>
          </p:cNvPicPr>
          <p:nvPr/>
        </p:nvPicPr>
        <p:blipFill>
          <a:blip r:embed="rId4"/>
          <a:stretch>
            <a:fillRect/>
          </a:stretch>
        </p:blipFill>
        <p:spPr>
          <a:xfrm>
            <a:off x="-36815" y="1690688"/>
            <a:ext cx="6567183" cy="4699838"/>
          </a:xfrm>
          <a:prstGeom prst="rect">
            <a:avLst/>
          </a:prstGeom>
        </p:spPr>
      </p:pic>
    </p:spTree>
    <p:extLst>
      <p:ext uri="{BB962C8B-B14F-4D97-AF65-F5344CB8AC3E}">
        <p14:creationId xmlns:p14="http://schemas.microsoft.com/office/powerpoint/2010/main" val="268643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B50B-C263-2A51-00D2-5BEE09EEF9B9}"/>
              </a:ext>
            </a:extLst>
          </p:cNvPr>
          <p:cNvSpPr>
            <a:spLocks noGrp="1"/>
          </p:cNvSpPr>
          <p:nvPr>
            <p:ph type="title"/>
          </p:nvPr>
        </p:nvSpPr>
        <p:spPr/>
        <p:txBody>
          <a:bodyPr/>
          <a:lstStyle/>
          <a:p>
            <a:endParaRPr lang="en-IN" b="1" dirty="0">
              <a:solidFill>
                <a:schemeClr val="accent1"/>
              </a:solidFill>
            </a:endParaRPr>
          </a:p>
        </p:txBody>
      </p:sp>
      <p:sp>
        <p:nvSpPr>
          <p:cNvPr id="3" name="TextBox 2">
            <a:extLst>
              <a:ext uri="{FF2B5EF4-FFF2-40B4-BE49-F238E27FC236}">
                <a16:creationId xmlns:a16="http://schemas.microsoft.com/office/drawing/2014/main" id="{D6BA8322-3831-7042-AB07-DDF60CC732E3}"/>
              </a:ext>
            </a:extLst>
          </p:cNvPr>
          <p:cNvSpPr txBox="1"/>
          <p:nvPr/>
        </p:nvSpPr>
        <p:spPr>
          <a:xfrm>
            <a:off x="7479586" y="658574"/>
            <a:ext cx="184731" cy="461665"/>
          </a:xfrm>
          <a:prstGeom prst="rect">
            <a:avLst/>
          </a:prstGeom>
          <a:noFill/>
        </p:spPr>
        <p:txBody>
          <a:bodyPr wrap="none" rtlCol="0">
            <a:spAutoFit/>
          </a:bodyPr>
          <a:lstStyle/>
          <a:p>
            <a:endParaRPr lang="en-IN" sz="2400" b="1" dirty="0"/>
          </a:p>
        </p:txBody>
      </p:sp>
      <p:sp>
        <p:nvSpPr>
          <p:cNvPr id="6" name="Content Placeholder 5">
            <a:extLst>
              <a:ext uri="{FF2B5EF4-FFF2-40B4-BE49-F238E27FC236}">
                <a16:creationId xmlns:a16="http://schemas.microsoft.com/office/drawing/2014/main" id="{123C12FC-8BA0-1E1C-4A40-DA2DD5BA4D00}"/>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18DD10ED-91D2-1A88-BAC3-C576E56E6B67}"/>
              </a:ext>
            </a:extLst>
          </p:cNvPr>
          <p:cNvPicPr>
            <a:picLocks noChangeAspect="1"/>
          </p:cNvPicPr>
          <p:nvPr/>
        </p:nvPicPr>
        <p:blipFill>
          <a:blip r:embed="rId3"/>
          <a:stretch>
            <a:fillRect/>
          </a:stretch>
        </p:blipFill>
        <p:spPr>
          <a:xfrm>
            <a:off x="148080" y="30096"/>
            <a:ext cx="11687749" cy="6708466"/>
          </a:xfrm>
          <a:prstGeom prst="rect">
            <a:avLst/>
          </a:prstGeom>
        </p:spPr>
      </p:pic>
      <p:sp>
        <p:nvSpPr>
          <p:cNvPr id="10" name="TextBox 9">
            <a:extLst>
              <a:ext uri="{FF2B5EF4-FFF2-40B4-BE49-F238E27FC236}">
                <a16:creationId xmlns:a16="http://schemas.microsoft.com/office/drawing/2014/main" id="{FB7D1A05-2338-CA29-14D7-2D2E8BD4B796}"/>
              </a:ext>
            </a:extLst>
          </p:cNvPr>
          <p:cNvSpPr txBox="1"/>
          <p:nvPr/>
        </p:nvSpPr>
        <p:spPr>
          <a:xfrm>
            <a:off x="7302357" y="704740"/>
            <a:ext cx="6097712" cy="461665"/>
          </a:xfrm>
          <a:prstGeom prst="rect">
            <a:avLst/>
          </a:prstGeom>
          <a:noFill/>
        </p:spPr>
        <p:txBody>
          <a:bodyPr wrap="square">
            <a:spAutoFit/>
          </a:bodyPr>
          <a:lstStyle/>
          <a:p>
            <a:r>
              <a:rPr lang="en-US" sz="2400" b="1" dirty="0"/>
              <a:t>CODE WORKFLOW</a:t>
            </a:r>
            <a:endParaRPr lang="en-IN" sz="2400" b="1" dirty="0"/>
          </a:p>
        </p:txBody>
      </p:sp>
    </p:spTree>
    <p:extLst>
      <p:ext uri="{BB962C8B-B14F-4D97-AF65-F5344CB8AC3E}">
        <p14:creationId xmlns:p14="http://schemas.microsoft.com/office/powerpoint/2010/main" val="1257134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7808E-2D2A-1FBD-4727-4D9533E1B439}"/>
              </a:ext>
            </a:extLst>
          </p:cNvPr>
          <p:cNvSpPr>
            <a:spLocks noGrp="1"/>
          </p:cNvSpPr>
          <p:nvPr>
            <p:ph type="title"/>
          </p:nvPr>
        </p:nvSpPr>
        <p:spPr/>
        <p:txBody>
          <a:bodyPr/>
          <a:lstStyle/>
          <a:p>
            <a:r>
              <a:rPr lang="en-US" b="1" dirty="0">
                <a:solidFill>
                  <a:schemeClr val="accent1"/>
                </a:solidFill>
              </a:rPr>
              <a:t>Improvements over previous modelling formulation – (main points)</a:t>
            </a:r>
            <a:endParaRPr lang="en-IN" b="1" dirty="0">
              <a:solidFill>
                <a:schemeClr val="accent1"/>
              </a:solidFill>
            </a:endParaRPr>
          </a:p>
        </p:txBody>
      </p:sp>
      <p:sp>
        <p:nvSpPr>
          <p:cNvPr id="3" name="Text Placeholder 2">
            <a:extLst>
              <a:ext uri="{FF2B5EF4-FFF2-40B4-BE49-F238E27FC236}">
                <a16:creationId xmlns:a16="http://schemas.microsoft.com/office/drawing/2014/main" id="{120913AB-F943-6F0E-6B0F-B1B17271EF37}"/>
              </a:ext>
            </a:extLst>
          </p:cNvPr>
          <p:cNvSpPr>
            <a:spLocks noGrp="1"/>
          </p:cNvSpPr>
          <p:nvPr>
            <p:ph type="body" idx="1"/>
          </p:nvPr>
        </p:nvSpPr>
        <p:spPr/>
        <p:txBody>
          <a:bodyPr/>
          <a:lstStyle/>
          <a:p>
            <a:r>
              <a:rPr lang="en-US" dirty="0"/>
              <a:t>Old Model</a:t>
            </a:r>
            <a:endParaRPr lang="en-IN" dirty="0"/>
          </a:p>
        </p:txBody>
      </p:sp>
      <p:sp>
        <p:nvSpPr>
          <p:cNvPr id="4" name="Content Placeholder 3">
            <a:extLst>
              <a:ext uri="{FF2B5EF4-FFF2-40B4-BE49-F238E27FC236}">
                <a16:creationId xmlns:a16="http://schemas.microsoft.com/office/drawing/2014/main" id="{204A178A-158F-060E-CEB2-6C960C840733}"/>
              </a:ext>
            </a:extLst>
          </p:cNvPr>
          <p:cNvSpPr>
            <a:spLocks noGrp="1"/>
          </p:cNvSpPr>
          <p:nvPr>
            <p:ph sz="half" idx="2"/>
          </p:nvPr>
        </p:nvSpPr>
        <p:spPr/>
        <p:txBody>
          <a:bodyPr>
            <a:normAutofit/>
          </a:bodyPr>
          <a:lstStyle/>
          <a:p>
            <a:r>
              <a:rPr lang="en-US" sz="2400" dirty="0"/>
              <a:t>Manual layer by layer root propagation</a:t>
            </a:r>
          </a:p>
          <a:p>
            <a:r>
              <a:rPr lang="en-IN" sz="2400" dirty="0"/>
              <a:t>Used </a:t>
            </a:r>
            <a:r>
              <a:rPr lang="en-IN" sz="2400" dirty="0" err="1"/>
              <a:t>find_root</a:t>
            </a:r>
            <a:r>
              <a:rPr lang="en-IN" sz="2400" dirty="0"/>
              <a:t> (bracketed secant method) algorithm for finding fall radius</a:t>
            </a:r>
          </a:p>
          <a:p>
            <a:r>
              <a:rPr lang="en-US" sz="2400" dirty="0"/>
              <a:t>No clearly separated free molecular regime branch</a:t>
            </a:r>
          </a:p>
          <a:p>
            <a:r>
              <a:rPr lang="en-US" sz="2400" dirty="0"/>
              <a:t>Old Cunningham slip correction factor</a:t>
            </a:r>
          </a:p>
          <a:p>
            <a:endParaRPr lang="en-US" sz="2400" dirty="0"/>
          </a:p>
          <a:p>
            <a:endParaRPr lang="en-IN" sz="2400" dirty="0"/>
          </a:p>
        </p:txBody>
      </p:sp>
      <p:sp>
        <p:nvSpPr>
          <p:cNvPr id="5" name="Text Placeholder 4">
            <a:extLst>
              <a:ext uri="{FF2B5EF4-FFF2-40B4-BE49-F238E27FC236}">
                <a16:creationId xmlns:a16="http://schemas.microsoft.com/office/drawing/2014/main" id="{21B70472-E662-83D1-E17E-2E7F9A40DFF9}"/>
              </a:ext>
            </a:extLst>
          </p:cNvPr>
          <p:cNvSpPr>
            <a:spLocks noGrp="1"/>
          </p:cNvSpPr>
          <p:nvPr>
            <p:ph type="body" sz="quarter" idx="3"/>
          </p:nvPr>
        </p:nvSpPr>
        <p:spPr/>
        <p:txBody>
          <a:bodyPr/>
          <a:lstStyle/>
          <a:p>
            <a:r>
              <a:rPr lang="en-US" dirty="0"/>
              <a:t>New Model</a:t>
            </a:r>
            <a:endParaRPr lang="en-IN" dirty="0"/>
          </a:p>
        </p:txBody>
      </p:sp>
      <p:sp>
        <p:nvSpPr>
          <p:cNvPr id="6" name="Content Placeholder 5">
            <a:extLst>
              <a:ext uri="{FF2B5EF4-FFF2-40B4-BE49-F238E27FC236}">
                <a16:creationId xmlns:a16="http://schemas.microsoft.com/office/drawing/2014/main" id="{3D530FC3-F8AD-545A-3AB0-D4FE8049AB4F}"/>
              </a:ext>
            </a:extLst>
          </p:cNvPr>
          <p:cNvSpPr>
            <a:spLocks noGrp="1"/>
          </p:cNvSpPr>
          <p:nvPr>
            <p:ph sz="quarter" idx="4"/>
          </p:nvPr>
        </p:nvSpPr>
        <p:spPr/>
        <p:txBody>
          <a:bodyPr>
            <a:normAutofit/>
          </a:bodyPr>
          <a:lstStyle/>
          <a:p>
            <a:r>
              <a:rPr lang="en-US" sz="2400" dirty="0"/>
              <a:t>Directly solving ODE using RK23 method</a:t>
            </a:r>
          </a:p>
          <a:p>
            <a:r>
              <a:rPr lang="en-US" sz="2400" dirty="0"/>
              <a:t>Using </a:t>
            </a:r>
            <a:r>
              <a:rPr lang="en-US" sz="2400" dirty="0" err="1"/>
              <a:t>brentq</a:t>
            </a:r>
            <a:r>
              <a:rPr lang="en-US" sz="2400" dirty="0"/>
              <a:t> method to find fall radius</a:t>
            </a:r>
          </a:p>
          <a:p>
            <a:r>
              <a:rPr lang="en-IN" sz="2400" dirty="0"/>
              <a:t>Clearly separated to free molecular regime and continuum regime</a:t>
            </a:r>
          </a:p>
          <a:p>
            <a:r>
              <a:rPr lang="en-IN" sz="2400" dirty="0"/>
              <a:t>Updated Cunningham Slip correction factor </a:t>
            </a:r>
          </a:p>
        </p:txBody>
      </p:sp>
      <p:pic>
        <p:nvPicPr>
          <p:cNvPr id="8" name="Picture 7">
            <a:extLst>
              <a:ext uri="{FF2B5EF4-FFF2-40B4-BE49-F238E27FC236}">
                <a16:creationId xmlns:a16="http://schemas.microsoft.com/office/drawing/2014/main" id="{0C0CD4FE-8188-E94C-1A3B-9AB01813D758}"/>
              </a:ext>
            </a:extLst>
          </p:cNvPr>
          <p:cNvPicPr>
            <a:picLocks noChangeAspect="1"/>
          </p:cNvPicPr>
          <p:nvPr/>
        </p:nvPicPr>
        <p:blipFill>
          <a:blip r:embed="rId3">
            <a:extLst>
              <a:ext uri="{28A0092B-C50C-407E-A947-70E740481C1C}">
                <a14:useLocalDpi xmlns:a14="http://schemas.microsoft.com/office/drawing/2010/main" val="0"/>
              </a:ext>
            </a:extLst>
          </a:blip>
          <a:srcRect t="23538" b="-1"/>
          <a:stretch>
            <a:fillRect/>
          </a:stretch>
        </p:blipFill>
        <p:spPr>
          <a:xfrm>
            <a:off x="7447445" y="5250094"/>
            <a:ext cx="3543795" cy="371489"/>
          </a:xfrm>
          <a:prstGeom prst="rect">
            <a:avLst/>
          </a:prstGeom>
        </p:spPr>
      </p:pic>
      <p:pic>
        <p:nvPicPr>
          <p:cNvPr id="10" name="Picture 9">
            <a:extLst>
              <a:ext uri="{FF2B5EF4-FFF2-40B4-BE49-F238E27FC236}">
                <a16:creationId xmlns:a16="http://schemas.microsoft.com/office/drawing/2014/main" id="{886C8417-1731-A580-42BD-B2FC51D6015C}"/>
              </a:ext>
            </a:extLst>
          </p:cNvPr>
          <p:cNvPicPr>
            <a:picLocks noChangeAspect="1"/>
          </p:cNvPicPr>
          <p:nvPr/>
        </p:nvPicPr>
        <p:blipFill>
          <a:blip r:embed="rId4"/>
          <a:stretch>
            <a:fillRect/>
          </a:stretch>
        </p:blipFill>
        <p:spPr>
          <a:xfrm>
            <a:off x="1552727" y="5621583"/>
            <a:ext cx="1648055" cy="533474"/>
          </a:xfrm>
          <a:prstGeom prst="rect">
            <a:avLst/>
          </a:prstGeom>
        </p:spPr>
      </p:pic>
    </p:spTree>
    <p:extLst>
      <p:ext uri="{BB962C8B-B14F-4D97-AF65-F5344CB8AC3E}">
        <p14:creationId xmlns:p14="http://schemas.microsoft.com/office/powerpoint/2010/main" val="3042000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0748-AD47-021F-0B5C-74429BBAA431}"/>
              </a:ext>
            </a:extLst>
          </p:cNvPr>
          <p:cNvSpPr>
            <a:spLocks noGrp="1"/>
          </p:cNvSpPr>
          <p:nvPr>
            <p:ph type="title"/>
          </p:nvPr>
        </p:nvSpPr>
        <p:spPr>
          <a:xfrm>
            <a:off x="102742" y="-616448"/>
            <a:ext cx="10737351" cy="1942012"/>
          </a:xfrm>
        </p:spPr>
        <p:txBody>
          <a:bodyPr/>
          <a:lstStyle/>
          <a:p>
            <a:r>
              <a:rPr lang="en-US" b="1" dirty="0">
                <a:solidFill>
                  <a:schemeClr val="accent1"/>
                </a:solidFill>
              </a:rPr>
              <a:t>Why NH3 is found in Jupiter ?</a:t>
            </a:r>
            <a:endParaRPr lang="en-IN" dirty="0"/>
          </a:p>
        </p:txBody>
      </p:sp>
      <p:sp>
        <p:nvSpPr>
          <p:cNvPr id="4" name="TextBox 3">
            <a:extLst>
              <a:ext uri="{FF2B5EF4-FFF2-40B4-BE49-F238E27FC236}">
                <a16:creationId xmlns:a16="http://schemas.microsoft.com/office/drawing/2014/main" id="{CDE46537-081D-F3B7-DCD3-55CE8181C80F}"/>
              </a:ext>
            </a:extLst>
          </p:cNvPr>
          <p:cNvSpPr txBox="1"/>
          <p:nvPr/>
        </p:nvSpPr>
        <p:spPr>
          <a:xfrm>
            <a:off x="9215918" y="1510301"/>
            <a:ext cx="2976081" cy="3416320"/>
          </a:xfrm>
          <a:prstGeom prst="rect">
            <a:avLst/>
          </a:prstGeom>
          <a:noFill/>
        </p:spPr>
        <p:txBody>
          <a:bodyPr wrap="square" rtlCol="0">
            <a:spAutoFit/>
          </a:bodyPr>
          <a:lstStyle/>
          <a:p>
            <a:r>
              <a:rPr lang="en-US" dirty="0"/>
              <a:t>Ammonia’s spectral lines were observed by NASA’s Galileo Probe in 1989 detecting clouds of ammonia ice on Jupiter. </a:t>
            </a:r>
          </a:p>
          <a:p>
            <a:r>
              <a:rPr lang="en-US" dirty="0"/>
              <a:t>Earlier data constrained from the transmission spectra of the planet obtained from Voyager spacecraft showed that the Ammonia gas absorbed certain wavelengths of light.</a:t>
            </a:r>
            <a:endParaRPr lang="en-IN" dirty="0"/>
          </a:p>
        </p:txBody>
      </p:sp>
      <p:sp>
        <p:nvSpPr>
          <p:cNvPr id="3" name="Content Placeholder 2">
            <a:extLst>
              <a:ext uri="{FF2B5EF4-FFF2-40B4-BE49-F238E27FC236}">
                <a16:creationId xmlns:a16="http://schemas.microsoft.com/office/drawing/2014/main" id="{5B9DE855-9BC5-403E-89CF-BA43BD2FB3F2}"/>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4CAA2D12-122C-3DA5-DC95-52124A31C7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33"/>
          <a:stretch>
            <a:fillRect/>
          </a:stretch>
        </p:blipFill>
        <p:spPr bwMode="auto">
          <a:xfrm>
            <a:off x="523983" y="619838"/>
            <a:ext cx="8097106" cy="6266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146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1E71-4A7E-68BE-4CF6-C4DCC2FE9FD8}"/>
              </a:ext>
            </a:extLst>
          </p:cNvPr>
          <p:cNvSpPr>
            <a:spLocks noGrp="1"/>
          </p:cNvSpPr>
          <p:nvPr>
            <p:ph type="title"/>
          </p:nvPr>
        </p:nvSpPr>
        <p:spPr>
          <a:xfrm>
            <a:off x="838199" y="97997"/>
            <a:ext cx="10515600" cy="1325563"/>
          </a:xfrm>
        </p:spPr>
        <p:txBody>
          <a:bodyPr/>
          <a:lstStyle/>
          <a:p>
            <a:r>
              <a:rPr lang="en-US" b="1" dirty="0">
                <a:solidFill>
                  <a:schemeClr val="accent1"/>
                </a:solidFill>
              </a:rPr>
              <a:t>Recap of previous semester main result</a:t>
            </a:r>
            <a:endParaRPr lang="en-IN" b="1" dirty="0">
              <a:solidFill>
                <a:schemeClr val="accent1"/>
              </a:solidFill>
            </a:endParaRPr>
          </a:p>
        </p:txBody>
      </p:sp>
      <p:pic>
        <p:nvPicPr>
          <p:cNvPr id="3074" name="Picture 2">
            <a:extLst>
              <a:ext uri="{FF2B5EF4-FFF2-40B4-BE49-F238E27FC236}">
                <a16:creationId xmlns:a16="http://schemas.microsoft.com/office/drawing/2014/main" id="{8817AC0F-1241-3F9B-0459-90687B23F05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39739" y="955383"/>
            <a:ext cx="7805756" cy="464403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E70608D-8D18-DEC7-FEEF-EC866E979E4D}"/>
              </a:ext>
            </a:extLst>
          </p:cNvPr>
          <p:cNvPicPr>
            <a:picLocks noChangeAspect="1"/>
          </p:cNvPicPr>
          <p:nvPr/>
        </p:nvPicPr>
        <p:blipFill>
          <a:blip r:embed="rId4"/>
          <a:stretch>
            <a:fillRect/>
          </a:stretch>
        </p:blipFill>
        <p:spPr>
          <a:xfrm>
            <a:off x="838200" y="5541913"/>
            <a:ext cx="6908516" cy="1316087"/>
          </a:xfrm>
          <a:prstGeom prst="rect">
            <a:avLst/>
          </a:prstGeom>
        </p:spPr>
      </p:pic>
      <p:pic>
        <p:nvPicPr>
          <p:cNvPr id="9" name="Picture 8">
            <a:extLst>
              <a:ext uri="{FF2B5EF4-FFF2-40B4-BE49-F238E27FC236}">
                <a16:creationId xmlns:a16="http://schemas.microsoft.com/office/drawing/2014/main" id="{F4D739AB-8C82-6A84-51AC-312D60B1B511}"/>
              </a:ext>
            </a:extLst>
          </p:cNvPr>
          <p:cNvPicPr>
            <a:picLocks noChangeAspect="1"/>
          </p:cNvPicPr>
          <p:nvPr/>
        </p:nvPicPr>
        <p:blipFill>
          <a:blip r:embed="rId5"/>
          <a:stretch>
            <a:fillRect/>
          </a:stretch>
        </p:blipFill>
        <p:spPr>
          <a:xfrm>
            <a:off x="8967045" y="1699317"/>
            <a:ext cx="2933158" cy="745932"/>
          </a:xfrm>
          <a:prstGeom prst="rect">
            <a:avLst/>
          </a:prstGeom>
        </p:spPr>
      </p:pic>
      <p:sp>
        <p:nvSpPr>
          <p:cNvPr id="10" name="TextBox 9">
            <a:extLst>
              <a:ext uri="{FF2B5EF4-FFF2-40B4-BE49-F238E27FC236}">
                <a16:creationId xmlns:a16="http://schemas.microsoft.com/office/drawing/2014/main" id="{A801D5F4-30B4-A272-71C5-72C9228AAB4F}"/>
              </a:ext>
            </a:extLst>
          </p:cNvPr>
          <p:cNvSpPr txBox="1"/>
          <p:nvPr/>
        </p:nvSpPr>
        <p:spPr>
          <a:xfrm>
            <a:off x="9328936" y="5599415"/>
            <a:ext cx="2024864" cy="923330"/>
          </a:xfrm>
          <a:prstGeom prst="rect">
            <a:avLst/>
          </a:prstGeom>
          <a:noFill/>
        </p:spPr>
        <p:txBody>
          <a:bodyPr wrap="square" rtlCol="0">
            <a:spAutoFit/>
          </a:bodyPr>
          <a:lstStyle/>
          <a:p>
            <a:r>
              <a:rPr lang="en-US" dirty="0"/>
              <a:t>PT profile is taken from </a:t>
            </a:r>
            <a:r>
              <a:rPr lang="en-US" i="1" dirty="0"/>
              <a:t>Ackerman and Marley (2001)</a:t>
            </a:r>
            <a:endParaRPr lang="en-IN" i="1" dirty="0"/>
          </a:p>
        </p:txBody>
      </p:sp>
    </p:spTree>
    <p:extLst>
      <p:ext uri="{BB962C8B-B14F-4D97-AF65-F5344CB8AC3E}">
        <p14:creationId xmlns:p14="http://schemas.microsoft.com/office/powerpoint/2010/main" val="1156820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B4B8E-C77B-4528-CD5D-B3A60A4C6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DDE29-7498-ADED-A10E-D340D627A1F9}"/>
              </a:ext>
            </a:extLst>
          </p:cNvPr>
          <p:cNvSpPr>
            <a:spLocks noGrp="1"/>
          </p:cNvSpPr>
          <p:nvPr>
            <p:ph type="title"/>
          </p:nvPr>
        </p:nvSpPr>
        <p:spPr>
          <a:xfrm>
            <a:off x="838199" y="97997"/>
            <a:ext cx="10515600" cy="1325563"/>
          </a:xfrm>
        </p:spPr>
        <p:txBody>
          <a:bodyPr/>
          <a:lstStyle/>
          <a:p>
            <a:r>
              <a:rPr lang="en-US" b="1" dirty="0">
                <a:solidFill>
                  <a:schemeClr val="accent1"/>
                </a:solidFill>
              </a:rPr>
              <a:t>Improvement of this semester’s result</a:t>
            </a:r>
            <a:endParaRPr lang="en-IN" b="1" dirty="0">
              <a:solidFill>
                <a:schemeClr val="accent1"/>
              </a:solidFill>
            </a:endParaRPr>
          </a:p>
        </p:txBody>
      </p:sp>
      <p:pic>
        <p:nvPicPr>
          <p:cNvPr id="9" name="Picture 8">
            <a:extLst>
              <a:ext uri="{FF2B5EF4-FFF2-40B4-BE49-F238E27FC236}">
                <a16:creationId xmlns:a16="http://schemas.microsoft.com/office/drawing/2014/main" id="{97F3FD3C-E183-62AE-E460-6356C4FD65CE}"/>
              </a:ext>
            </a:extLst>
          </p:cNvPr>
          <p:cNvPicPr>
            <a:picLocks noChangeAspect="1"/>
          </p:cNvPicPr>
          <p:nvPr/>
        </p:nvPicPr>
        <p:blipFill>
          <a:blip r:embed="rId3"/>
          <a:stretch>
            <a:fillRect/>
          </a:stretch>
        </p:blipFill>
        <p:spPr>
          <a:xfrm>
            <a:off x="8967045" y="1699317"/>
            <a:ext cx="2933158" cy="745932"/>
          </a:xfrm>
          <a:prstGeom prst="rect">
            <a:avLst/>
          </a:prstGeom>
        </p:spPr>
      </p:pic>
      <p:pic>
        <p:nvPicPr>
          <p:cNvPr id="6" name="Content Placeholder 5">
            <a:extLst>
              <a:ext uri="{FF2B5EF4-FFF2-40B4-BE49-F238E27FC236}">
                <a16:creationId xmlns:a16="http://schemas.microsoft.com/office/drawing/2014/main" id="{80563E8E-47CE-0CAE-546D-8781222741F3}"/>
              </a:ext>
            </a:extLst>
          </p:cNvPr>
          <p:cNvPicPr>
            <a:picLocks noGrp="1" noChangeAspect="1"/>
          </p:cNvPicPr>
          <p:nvPr>
            <p:ph idx="1"/>
          </p:nvPr>
        </p:nvPicPr>
        <p:blipFill>
          <a:blip r:embed="rId4"/>
          <a:stretch>
            <a:fillRect/>
          </a:stretch>
        </p:blipFill>
        <p:spPr>
          <a:xfrm>
            <a:off x="624877" y="5690135"/>
            <a:ext cx="8030696" cy="1066949"/>
          </a:xfrm>
          <a:prstGeom prst="rect">
            <a:avLst/>
          </a:prstGeom>
        </p:spPr>
      </p:pic>
      <p:pic>
        <p:nvPicPr>
          <p:cNvPr id="4100" name="Picture 4">
            <a:extLst>
              <a:ext uri="{FF2B5EF4-FFF2-40B4-BE49-F238E27FC236}">
                <a16:creationId xmlns:a16="http://schemas.microsoft.com/office/drawing/2014/main" id="{2CB13A86-E5E4-F83C-CB12-40F11B6BE4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905" y="1027416"/>
            <a:ext cx="8258422" cy="466271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hlinkClick r:id="rId6" action="ppaction://hlinksldjump"/>
            <a:extLst>
              <a:ext uri="{FF2B5EF4-FFF2-40B4-BE49-F238E27FC236}">
                <a16:creationId xmlns:a16="http://schemas.microsoft.com/office/drawing/2014/main" id="{8FCBD33D-3064-7590-A197-B72606948886}"/>
              </a:ext>
            </a:extLst>
          </p:cNvPr>
          <p:cNvSpPr txBox="1"/>
          <p:nvPr/>
        </p:nvSpPr>
        <p:spPr>
          <a:xfrm>
            <a:off x="9123452" y="5024551"/>
            <a:ext cx="2443671" cy="1200329"/>
          </a:xfrm>
          <a:prstGeom prst="rect">
            <a:avLst/>
          </a:prstGeom>
          <a:noFill/>
        </p:spPr>
        <p:txBody>
          <a:bodyPr wrap="square" rtlCol="0">
            <a:spAutoFit/>
          </a:bodyPr>
          <a:lstStyle/>
          <a:p>
            <a:r>
              <a:rPr lang="en-US" dirty="0"/>
              <a:t>The work is compared with </a:t>
            </a:r>
            <a:r>
              <a:rPr lang="en-US" i="1" dirty="0"/>
              <a:t>Virga cloud </a:t>
            </a:r>
            <a:r>
              <a:rPr lang="en-US" dirty="0"/>
              <a:t>model, </a:t>
            </a:r>
            <a:r>
              <a:rPr lang="en-IN" dirty="0"/>
              <a:t>(Batalha et al., open-source code)</a:t>
            </a:r>
          </a:p>
        </p:txBody>
      </p:sp>
      <p:sp>
        <p:nvSpPr>
          <p:cNvPr id="7" name="TextBox 6">
            <a:extLst>
              <a:ext uri="{FF2B5EF4-FFF2-40B4-BE49-F238E27FC236}">
                <a16:creationId xmlns:a16="http://schemas.microsoft.com/office/drawing/2014/main" id="{3BCC1ED0-C5BE-5B2C-7A1F-4E7CB6AC8A20}"/>
              </a:ext>
            </a:extLst>
          </p:cNvPr>
          <p:cNvSpPr txBox="1"/>
          <p:nvPr/>
        </p:nvSpPr>
        <p:spPr>
          <a:xfrm>
            <a:off x="8804953" y="6249829"/>
            <a:ext cx="2762170" cy="523220"/>
          </a:xfrm>
          <a:prstGeom prst="rect">
            <a:avLst/>
          </a:prstGeom>
          <a:noFill/>
        </p:spPr>
        <p:txBody>
          <a:bodyPr wrap="square">
            <a:spAutoFit/>
          </a:bodyPr>
          <a:lstStyle/>
          <a:p>
            <a:r>
              <a:rPr lang="en-IN" sz="1400" dirty="0"/>
              <a:t>https://github.com/natashabatalha/virga</a:t>
            </a:r>
          </a:p>
        </p:txBody>
      </p:sp>
    </p:spTree>
    <p:extLst>
      <p:ext uri="{BB962C8B-B14F-4D97-AF65-F5344CB8AC3E}">
        <p14:creationId xmlns:p14="http://schemas.microsoft.com/office/powerpoint/2010/main" val="976975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D1839-48A5-458B-0CD0-5DA029753727}"/>
              </a:ext>
            </a:extLst>
          </p:cNvPr>
          <p:cNvSpPr>
            <a:spLocks noGrp="1"/>
          </p:cNvSpPr>
          <p:nvPr>
            <p:ph type="title"/>
          </p:nvPr>
        </p:nvSpPr>
        <p:spPr/>
        <p:txBody>
          <a:bodyPr/>
          <a:lstStyle/>
          <a:p>
            <a:r>
              <a:rPr lang="en-US" b="1" dirty="0">
                <a:solidFill>
                  <a:schemeClr val="accent1"/>
                </a:solidFill>
              </a:rPr>
              <a:t>Plot of Pressure vs Column Density</a:t>
            </a:r>
            <a:endParaRPr lang="en-IN" b="1" dirty="0">
              <a:solidFill>
                <a:schemeClr val="accent1"/>
              </a:solidFill>
            </a:endParaRPr>
          </a:p>
        </p:txBody>
      </p:sp>
      <p:pic>
        <p:nvPicPr>
          <p:cNvPr id="5122" name="Picture 2">
            <a:extLst>
              <a:ext uri="{FF2B5EF4-FFF2-40B4-BE49-F238E27FC236}">
                <a16:creationId xmlns:a16="http://schemas.microsoft.com/office/drawing/2014/main" id="{470B88D0-F69C-7E29-59BF-6D9FA0DD175D}"/>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5303" r="1937" b="4758"/>
          <a:stretch>
            <a:fillRect/>
          </a:stretch>
        </p:blipFill>
        <p:spPr bwMode="auto">
          <a:xfrm>
            <a:off x="-18569" y="1440078"/>
            <a:ext cx="8148689" cy="44675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52641FF-E437-418C-850C-DD2AB3C9379F}"/>
              </a:ext>
            </a:extLst>
          </p:cNvPr>
          <p:cNvSpPr txBox="1"/>
          <p:nvPr/>
        </p:nvSpPr>
        <p:spPr>
          <a:xfrm>
            <a:off x="8876873" y="3780890"/>
            <a:ext cx="3154166" cy="646331"/>
          </a:xfrm>
          <a:prstGeom prst="rect">
            <a:avLst/>
          </a:prstGeom>
          <a:noFill/>
        </p:spPr>
        <p:txBody>
          <a:bodyPr wrap="square" rtlCol="0">
            <a:spAutoFit/>
          </a:bodyPr>
          <a:lstStyle/>
          <a:p>
            <a:r>
              <a:rPr lang="en-US" dirty="0"/>
              <a:t>Plot of Pressure vs Column Density </a:t>
            </a:r>
            <a:endParaRPr lang="en-IN" dirty="0"/>
          </a:p>
        </p:txBody>
      </p:sp>
      <p:pic>
        <p:nvPicPr>
          <p:cNvPr id="6" name="Picture 5">
            <a:extLst>
              <a:ext uri="{FF2B5EF4-FFF2-40B4-BE49-F238E27FC236}">
                <a16:creationId xmlns:a16="http://schemas.microsoft.com/office/drawing/2014/main" id="{D617E3A4-2D00-7499-8BD8-64E00EA2D22B}"/>
              </a:ext>
            </a:extLst>
          </p:cNvPr>
          <p:cNvPicPr>
            <a:picLocks noChangeAspect="1"/>
          </p:cNvPicPr>
          <p:nvPr/>
        </p:nvPicPr>
        <p:blipFill>
          <a:blip r:embed="rId4"/>
          <a:stretch>
            <a:fillRect/>
          </a:stretch>
        </p:blipFill>
        <p:spPr>
          <a:xfrm>
            <a:off x="9679424" y="4104055"/>
            <a:ext cx="2429214" cy="247685"/>
          </a:xfrm>
          <a:prstGeom prst="rect">
            <a:avLst/>
          </a:prstGeom>
        </p:spPr>
      </p:pic>
      <p:pic>
        <p:nvPicPr>
          <p:cNvPr id="8" name="Picture 7">
            <a:extLst>
              <a:ext uri="{FF2B5EF4-FFF2-40B4-BE49-F238E27FC236}">
                <a16:creationId xmlns:a16="http://schemas.microsoft.com/office/drawing/2014/main" id="{9C2EFB98-7DD6-489B-FAD6-ACB29C21DDF0}"/>
              </a:ext>
            </a:extLst>
          </p:cNvPr>
          <p:cNvPicPr>
            <a:picLocks noChangeAspect="1"/>
          </p:cNvPicPr>
          <p:nvPr/>
        </p:nvPicPr>
        <p:blipFill>
          <a:blip r:embed="rId5"/>
          <a:stretch>
            <a:fillRect/>
          </a:stretch>
        </p:blipFill>
        <p:spPr>
          <a:xfrm>
            <a:off x="8130120" y="1440078"/>
            <a:ext cx="4191585" cy="971686"/>
          </a:xfrm>
          <a:prstGeom prst="rect">
            <a:avLst/>
          </a:prstGeom>
        </p:spPr>
      </p:pic>
      <p:sp>
        <p:nvSpPr>
          <p:cNvPr id="3" name="TextBox 2">
            <a:extLst>
              <a:ext uri="{FF2B5EF4-FFF2-40B4-BE49-F238E27FC236}">
                <a16:creationId xmlns:a16="http://schemas.microsoft.com/office/drawing/2014/main" id="{19A10BB0-3990-9811-930D-D2ABE4536691}"/>
              </a:ext>
            </a:extLst>
          </p:cNvPr>
          <p:cNvSpPr txBox="1"/>
          <p:nvPr/>
        </p:nvSpPr>
        <p:spPr>
          <a:xfrm>
            <a:off x="5332288" y="5233256"/>
            <a:ext cx="2331087" cy="369332"/>
          </a:xfrm>
          <a:prstGeom prst="rect">
            <a:avLst/>
          </a:prstGeom>
          <a:noFill/>
        </p:spPr>
        <p:txBody>
          <a:bodyPr wrap="none" rtlCol="0">
            <a:spAutoFit/>
          </a:bodyPr>
          <a:lstStyle/>
          <a:p>
            <a:r>
              <a:rPr lang="en-US" dirty="0"/>
              <a:t>Column Density (cm</a:t>
            </a:r>
            <a:r>
              <a:rPr lang="en-US" baseline="30000" dirty="0"/>
              <a:t>-2</a:t>
            </a:r>
            <a:r>
              <a:rPr lang="en-US" dirty="0"/>
              <a:t>)</a:t>
            </a:r>
            <a:endParaRPr lang="en-IN" dirty="0"/>
          </a:p>
        </p:txBody>
      </p:sp>
    </p:spTree>
    <p:extLst>
      <p:ext uri="{BB962C8B-B14F-4D97-AF65-F5344CB8AC3E}">
        <p14:creationId xmlns:p14="http://schemas.microsoft.com/office/powerpoint/2010/main" val="2346427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38E3-EF93-24EE-B63D-367554CA9FF2}"/>
              </a:ext>
            </a:extLst>
          </p:cNvPr>
          <p:cNvSpPr>
            <a:spLocks noGrp="1"/>
          </p:cNvSpPr>
          <p:nvPr>
            <p:ph type="title"/>
          </p:nvPr>
        </p:nvSpPr>
        <p:spPr/>
        <p:txBody>
          <a:bodyPr/>
          <a:lstStyle/>
          <a:p>
            <a:r>
              <a:rPr lang="en-US" b="1" dirty="0">
                <a:solidFill>
                  <a:schemeClr val="accent1"/>
                </a:solidFill>
              </a:rPr>
              <a:t>Plot of Pressure vs Effective Droplet Radius</a:t>
            </a:r>
            <a:endParaRPr lang="en-IN" dirty="0"/>
          </a:p>
        </p:txBody>
      </p:sp>
      <p:pic>
        <p:nvPicPr>
          <p:cNvPr id="6146" name="Picture 2">
            <a:extLst>
              <a:ext uri="{FF2B5EF4-FFF2-40B4-BE49-F238E27FC236}">
                <a16:creationId xmlns:a16="http://schemas.microsoft.com/office/drawing/2014/main" id="{C0E94AC5-CACD-8F96-BD58-C9C7E5FE9E6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7029" y="1253331"/>
            <a:ext cx="7836329" cy="467485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C69AB4-B0A8-8048-28D1-C3BD41170A62}"/>
              </a:ext>
            </a:extLst>
          </p:cNvPr>
          <p:cNvSpPr txBox="1"/>
          <p:nvPr/>
        </p:nvSpPr>
        <p:spPr>
          <a:xfrm>
            <a:off x="8476180" y="2116476"/>
            <a:ext cx="2877620" cy="1200329"/>
          </a:xfrm>
          <a:prstGeom prst="rect">
            <a:avLst/>
          </a:prstGeom>
          <a:noFill/>
        </p:spPr>
        <p:txBody>
          <a:bodyPr wrap="square" rtlCol="0">
            <a:spAutoFit/>
          </a:bodyPr>
          <a:lstStyle/>
          <a:p>
            <a:r>
              <a:rPr lang="en-US" dirty="0"/>
              <a:t>Plot for Pressure vs Effective Droplet radius (microns) for different values of sedimentation efficiency.</a:t>
            </a:r>
            <a:endParaRPr lang="en-IN" dirty="0"/>
          </a:p>
        </p:txBody>
      </p:sp>
      <p:pic>
        <p:nvPicPr>
          <p:cNvPr id="6" name="Picture 5">
            <a:extLst>
              <a:ext uri="{FF2B5EF4-FFF2-40B4-BE49-F238E27FC236}">
                <a16:creationId xmlns:a16="http://schemas.microsoft.com/office/drawing/2014/main" id="{5A09D77F-0A14-233E-0FDF-233C208772EB}"/>
              </a:ext>
            </a:extLst>
          </p:cNvPr>
          <p:cNvPicPr>
            <a:picLocks noChangeAspect="1"/>
          </p:cNvPicPr>
          <p:nvPr/>
        </p:nvPicPr>
        <p:blipFill>
          <a:blip r:embed="rId4"/>
          <a:stretch>
            <a:fillRect/>
          </a:stretch>
        </p:blipFill>
        <p:spPr>
          <a:xfrm>
            <a:off x="8564045" y="4991572"/>
            <a:ext cx="3172268" cy="657317"/>
          </a:xfrm>
          <a:prstGeom prst="rect">
            <a:avLst/>
          </a:prstGeom>
        </p:spPr>
      </p:pic>
      <p:pic>
        <p:nvPicPr>
          <p:cNvPr id="8" name="Picture 7">
            <a:extLst>
              <a:ext uri="{FF2B5EF4-FFF2-40B4-BE49-F238E27FC236}">
                <a16:creationId xmlns:a16="http://schemas.microsoft.com/office/drawing/2014/main" id="{49248B0A-5881-D7A9-3627-53FFE2657BA8}"/>
              </a:ext>
            </a:extLst>
          </p:cNvPr>
          <p:cNvPicPr>
            <a:picLocks noChangeAspect="1"/>
          </p:cNvPicPr>
          <p:nvPr/>
        </p:nvPicPr>
        <p:blipFill>
          <a:blip r:embed="rId5"/>
          <a:stretch>
            <a:fillRect/>
          </a:stretch>
        </p:blipFill>
        <p:spPr>
          <a:xfrm>
            <a:off x="8235387" y="3975831"/>
            <a:ext cx="3829584" cy="762106"/>
          </a:xfrm>
          <a:prstGeom prst="rect">
            <a:avLst/>
          </a:prstGeom>
        </p:spPr>
      </p:pic>
      <p:pic>
        <p:nvPicPr>
          <p:cNvPr id="12" name="Picture 11">
            <a:extLst>
              <a:ext uri="{FF2B5EF4-FFF2-40B4-BE49-F238E27FC236}">
                <a16:creationId xmlns:a16="http://schemas.microsoft.com/office/drawing/2014/main" id="{5133E751-E596-A6B1-AAB5-E53F6869A297}"/>
              </a:ext>
            </a:extLst>
          </p:cNvPr>
          <p:cNvPicPr>
            <a:picLocks noChangeAspect="1"/>
          </p:cNvPicPr>
          <p:nvPr/>
        </p:nvPicPr>
        <p:blipFill>
          <a:blip r:embed="rId6"/>
          <a:stretch>
            <a:fillRect/>
          </a:stretch>
        </p:blipFill>
        <p:spPr>
          <a:xfrm>
            <a:off x="8914725" y="3360195"/>
            <a:ext cx="2000529" cy="362001"/>
          </a:xfrm>
          <a:prstGeom prst="rect">
            <a:avLst/>
          </a:prstGeom>
        </p:spPr>
      </p:pic>
    </p:spTree>
    <p:extLst>
      <p:ext uri="{BB962C8B-B14F-4D97-AF65-F5344CB8AC3E}">
        <p14:creationId xmlns:p14="http://schemas.microsoft.com/office/powerpoint/2010/main" val="320064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4A13B-D975-1109-D7F8-488BCE1FDF49}"/>
              </a:ext>
            </a:extLst>
          </p:cNvPr>
          <p:cNvSpPr>
            <a:spLocks noGrp="1"/>
          </p:cNvSpPr>
          <p:nvPr>
            <p:ph type="title"/>
          </p:nvPr>
        </p:nvSpPr>
        <p:spPr>
          <a:xfrm>
            <a:off x="159652" y="192267"/>
            <a:ext cx="10515600" cy="1325563"/>
          </a:xfrm>
        </p:spPr>
        <p:txBody>
          <a:bodyPr/>
          <a:lstStyle/>
          <a:p>
            <a:r>
              <a:rPr lang="en-US" b="1" dirty="0">
                <a:solidFill>
                  <a:schemeClr val="accent1"/>
                </a:solidFill>
              </a:rPr>
              <a:t>Why the different at higher sedimentation efficiency values :</a:t>
            </a:r>
            <a:endParaRPr lang="en-IN" b="1" dirty="0">
              <a:solidFill>
                <a:schemeClr val="accent1"/>
              </a:solidFill>
            </a:endParaRPr>
          </a:p>
        </p:txBody>
      </p:sp>
      <p:sp>
        <p:nvSpPr>
          <p:cNvPr id="3" name="Content Placeholder 2">
            <a:extLst>
              <a:ext uri="{FF2B5EF4-FFF2-40B4-BE49-F238E27FC236}">
                <a16:creationId xmlns:a16="http://schemas.microsoft.com/office/drawing/2014/main" id="{35531A7A-306D-D709-0506-BB0F0259BAE4}"/>
              </a:ext>
            </a:extLst>
          </p:cNvPr>
          <p:cNvSpPr>
            <a:spLocks noGrp="1"/>
          </p:cNvSpPr>
          <p:nvPr>
            <p:ph idx="1"/>
          </p:nvPr>
        </p:nvSpPr>
        <p:spPr>
          <a:xfrm>
            <a:off x="236306" y="1428109"/>
            <a:ext cx="10048125" cy="791109"/>
          </a:xfrm>
        </p:spPr>
        <p:txBody>
          <a:bodyPr/>
          <a:lstStyle/>
          <a:p>
            <a:r>
              <a:rPr lang="en-US" dirty="0"/>
              <a:t>Currently we use the algorithm of Power law approximation fit as :</a:t>
            </a:r>
          </a:p>
          <a:p>
            <a:endParaRPr lang="en-IN" dirty="0"/>
          </a:p>
        </p:txBody>
      </p:sp>
      <p:pic>
        <p:nvPicPr>
          <p:cNvPr id="5" name="Picture 4">
            <a:extLst>
              <a:ext uri="{FF2B5EF4-FFF2-40B4-BE49-F238E27FC236}">
                <a16:creationId xmlns:a16="http://schemas.microsoft.com/office/drawing/2014/main" id="{56B678DB-B09C-E484-9138-0D2E4BE07B80}"/>
              </a:ext>
            </a:extLst>
          </p:cNvPr>
          <p:cNvPicPr>
            <a:picLocks noChangeAspect="1"/>
          </p:cNvPicPr>
          <p:nvPr/>
        </p:nvPicPr>
        <p:blipFill>
          <a:blip r:embed="rId3"/>
          <a:stretch>
            <a:fillRect/>
          </a:stretch>
        </p:blipFill>
        <p:spPr>
          <a:xfrm>
            <a:off x="0" y="2261691"/>
            <a:ext cx="2597658" cy="983962"/>
          </a:xfrm>
          <a:prstGeom prst="rect">
            <a:avLst/>
          </a:prstGeom>
        </p:spPr>
      </p:pic>
      <p:pic>
        <p:nvPicPr>
          <p:cNvPr id="7" name="Picture 6">
            <a:extLst>
              <a:ext uri="{FF2B5EF4-FFF2-40B4-BE49-F238E27FC236}">
                <a16:creationId xmlns:a16="http://schemas.microsoft.com/office/drawing/2014/main" id="{9917F2F1-D515-9100-99BF-87421FD720F5}"/>
              </a:ext>
            </a:extLst>
          </p:cNvPr>
          <p:cNvPicPr>
            <a:picLocks noChangeAspect="1"/>
          </p:cNvPicPr>
          <p:nvPr/>
        </p:nvPicPr>
        <p:blipFill>
          <a:blip r:embed="rId4"/>
          <a:stretch>
            <a:fillRect/>
          </a:stretch>
        </p:blipFill>
        <p:spPr>
          <a:xfrm>
            <a:off x="363432" y="3288126"/>
            <a:ext cx="5268631" cy="1911170"/>
          </a:xfrm>
          <a:prstGeom prst="rect">
            <a:avLst/>
          </a:prstGeom>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C8C6F832-8F64-3582-1E43-DD133BED9E4A}"/>
                  </a:ext>
                </a:extLst>
              </p14:cNvPr>
              <p14:cNvContentPartPr/>
              <p14:nvPr/>
            </p14:nvContentPartPr>
            <p14:xfrm>
              <a:off x="9060609" y="3512544"/>
              <a:ext cx="217800" cy="279360"/>
            </p14:xfrm>
          </p:contentPart>
        </mc:Choice>
        <mc:Fallback xmlns="">
          <p:pic>
            <p:nvPicPr>
              <p:cNvPr id="8" name="Ink 7">
                <a:extLst>
                  <a:ext uri="{FF2B5EF4-FFF2-40B4-BE49-F238E27FC236}">
                    <a16:creationId xmlns:a16="http://schemas.microsoft.com/office/drawing/2014/main" id="{C8C6F832-8F64-3582-1E43-DD133BED9E4A}"/>
                  </a:ext>
                </a:extLst>
              </p:cNvPr>
              <p:cNvPicPr/>
              <p:nvPr/>
            </p:nvPicPr>
            <p:blipFill>
              <a:blip r:embed="rId6"/>
              <a:stretch>
                <a:fillRect/>
              </a:stretch>
            </p:blipFill>
            <p:spPr>
              <a:xfrm>
                <a:off x="8997609" y="3449904"/>
                <a:ext cx="343440" cy="405000"/>
              </a:xfrm>
              <a:prstGeom prst="rect">
                <a:avLst/>
              </a:prstGeom>
            </p:spPr>
          </p:pic>
        </mc:Fallback>
      </mc:AlternateContent>
      <p:sp>
        <p:nvSpPr>
          <p:cNvPr id="9" name="TextBox 8">
            <a:extLst>
              <a:ext uri="{FF2B5EF4-FFF2-40B4-BE49-F238E27FC236}">
                <a16:creationId xmlns:a16="http://schemas.microsoft.com/office/drawing/2014/main" id="{E27FAD5D-BAC5-C313-FD79-997E4BC65B6C}"/>
              </a:ext>
            </a:extLst>
          </p:cNvPr>
          <p:cNvSpPr txBox="1"/>
          <p:nvPr/>
        </p:nvSpPr>
        <p:spPr>
          <a:xfrm>
            <a:off x="482029" y="5822872"/>
            <a:ext cx="10515601" cy="830997"/>
          </a:xfrm>
          <a:prstGeom prst="rect">
            <a:avLst/>
          </a:prstGeom>
          <a:noFill/>
        </p:spPr>
        <p:txBody>
          <a:bodyPr wrap="square" rtlCol="0">
            <a:spAutoFit/>
          </a:bodyPr>
          <a:lstStyle/>
          <a:p>
            <a:r>
              <a:rPr lang="en-US" sz="2400" dirty="0"/>
              <a:t>Virga obtains a better fit for calculating  </a:t>
            </a:r>
            <a:r>
              <a:rPr lang="el-GR" sz="2400" i="1" dirty="0">
                <a:latin typeface="Open Sans" panose="020B0606030504020204" pitchFamily="34" charset="0"/>
                <a:ea typeface="Open Sans" panose="020B0606030504020204" pitchFamily="34" charset="0"/>
                <a:cs typeface="Open Sans" panose="020B0606030504020204" pitchFamily="34" charset="0"/>
              </a:rPr>
              <a:t>α</a:t>
            </a:r>
            <a:r>
              <a:rPr lang="en-US" sz="2400" dirty="0">
                <a:latin typeface="Open Sans" panose="020B0606030504020204" pitchFamily="34" charset="0"/>
                <a:ea typeface="Open Sans" panose="020B0606030504020204" pitchFamily="34" charset="0"/>
                <a:cs typeface="Open Sans" panose="020B0606030504020204" pitchFamily="34" charset="0"/>
              </a:rPr>
              <a:t> using </a:t>
            </a:r>
            <a:r>
              <a:rPr lang="en-US" sz="2400" dirty="0" err="1">
                <a:latin typeface="MS Reference Sans Serif" panose="020B0604030504040204" pitchFamily="34" charset="0"/>
                <a:ea typeface="Open Sans" panose="020B0606030504020204" pitchFamily="34" charset="0"/>
                <a:cs typeface="Open Sans" panose="020B0606030504020204" pitchFamily="34" charset="0"/>
              </a:rPr>
              <a:t>SciPy.optimize</a:t>
            </a:r>
            <a:r>
              <a:rPr lang="en-US" sz="2400" dirty="0">
                <a:latin typeface="MS Reference Sans Serif" panose="020B0604030504040204" pitchFamily="34" charset="0"/>
                <a:ea typeface="Open Sans" panose="020B0606030504020204" pitchFamily="34" charset="0"/>
                <a:cs typeface="Open Sans" panose="020B0606030504020204" pitchFamily="34" charset="0"/>
              </a:rPr>
              <a:t> </a:t>
            </a:r>
            <a:r>
              <a:rPr lang="en-US" sz="2400" dirty="0">
                <a:latin typeface="Open Sans" panose="020B0606030504020204" pitchFamily="34" charset="0"/>
                <a:ea typeface="Open Sans" panose="020B0606030504020204" pitchFamily="34" charset="0"/>
                <a:cs typeface="Open Sans" panose="020B0606030504020204" pitchFamily="34" charset="0"/>
              </a:rPr>
              <a:t>function called </a:t>
            </a:r>
            <a:r>
              <a:rPr lang="en-US" sz="2400" dirty="0" err="1">
                <a:latin typeface="MS Reference Sans Serif" panose="020B0604030504040204" pitchFamily="34" charset="0"/>
                <a:ea typeface="Open Sans" panose="020B0606030504020204" pitchFamily="34" charset="0"/>
                <a:cs typeface="Open Sans" panose="020B0606030504020204" pitchFamily="34" charset="0"/>
              </a:rPr>
              <a:t>curve_fit</a:t>
            </a:r>
            <a:endParaRPr lang="en-IN" sz="2400" dirty="0">
              <a:latin typeface="MS Reference Sans Serif" panose="020B0604030504040204" pitchFamily="34" charset="0"/>
            </a:endParaRPr>
          </a:p>
        </p:txBody>
      </p:sp>
      <p:pic>
        <p:nvPicPr>
          <p:cNvPr id="11" name="Picture 10">
            <a:extLst>
              <a:ext uri="{FF2B5EF4-FFF2-40B4-BE49-F238E27FC236}">
                <a16:creationId xmlns:a16="http://schemas.microsoft.com/office/drawing/2014/main" id="{ED6A807C-E15B-B613-15C8-1FDC13C39FC9}"/>
              </a:ext>
            </a:extLst>
          </p:cNvPr>
          <p:cNvPicPr>
            <a:picLocks noChangeAspect="1"/>
          </p:cNvPicPr>
          <p:nvPr/>
        </p:nvPicPr>
        <p:blipFill>
          <a:blip r:embed="rId7"/>
          <a:stretch>
            <a:fillRect/>
          </a:stretch>
        </p:blipFill>
        <p:spPr>
          <a:xfrm>
            <a:off x="6400800" y="2121236"/>
            <a:ext cx="4993240" cy="3410737"/>
          </a:xfrm>
          <a:prstGeom prst="rect">
            <a:avLst/>
          </a:prstGeom>
        </p:spPr>
      </p:pic>
      <p:sp>
        <p:nvSpPr>
          <p:cNvPr id="12" name="TextBox 11">
            <a:extLst>
              <a:ext uri="{FF2B5EF4-FFF2-40B4-BE49-F238E27FC236}">
                <a16:creationId xmlns:a16="http://schemas.microsoft.com/office/drawing/2014/main" id="{9E60C015-E1E1-15A1-F455-5AD49D9E8282}"/>
              </a:ext>
            </a:extLst>
          </p:cNvPr>
          <p:cNvSpPr txBox="1"/>
          <p:nvPr/>
        </p:nvSpPr>
        <p:spPr>
          <a:xfrm>
            <a:off x="8529523" y="6296401"/>
            <a:ext cx="3662477" cy="369332"/>
          </a:xfrm>
          <a:prstGeom prst="rect">
            <a:avLst/>
          </a:prstGeom>
          <a:noFill/>
        </p:spPr>
        <p:txBody>
          <a:bodyPr wrap="none" rtlCol="0">
            <a:spAutoFit/>
          </a:bodyPr>
          <a:lstStyle/>
          <a:p>
            <a:r>
              <a:rPr lang="en-US" dirty="0"/>
              <a:t>Figure taken from Batalha.et.al- 2025</a:t>
            </a:r>
            <a:endParaRPr lang="en-IN" dirty="0"/>
          </a:p>
        </p:txBody>
      </p:sp>
      <p:pic>
        <p:nvPicPr>
          <p:cNvPr id="4" name="Picture 3">
            <a:extLst>
              <a:ext uri="{FF2B5EF4-FFF2-40B4-BE49-F238E27FC236}">
                <a16:creationId xmlns:a16="http://schemas.microsoft.com/office/drawing/2014/main" id="{900185D4-8BD4-8B3F-5523-8EFF04D0995D}"/>
              </a:ext>
            </a:extLst>
          </p:cNvPr>
          <p:cNvPicPr>
            <a:picLocks noChangeAspect="1"/>
          </p:cNvPicPr>
          <p:nvPr/>
        </p:nvPicPr>
        <p:blipFill>
          <a:blip r:embed="rId8"/>
          <a:stretch>
            <a:fillRect/>
          </a:stretch>
        </p:blipFill>
        <p:spPr>
          <a:xfrm>
            <a:off x="3510459" y="2353775"/>
            <a:ext cx="1851708" cy="687376"/>
          </a:xfrm>
          <a:prstGeom prst="rect">
            <a:avLst/>
          </a:prstGeom>
        </p:spPr>
      </p:pic>
    </p:spTree>
    <p:extLst>
      <p:ext uri="{BB962C8B-B14F-4D97-AF65-F5344CB8AC3E}">
        <p14:creationId xmlns:p14="http://schemas.microsoft.com/office/powerpoint/2010/main" val="574680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8E8F-403E-2649-3A1D-E30F658B768A}"/>
              </a:ext>
            </a:extLst>
          </p:cNvPr>
          <p:cNvSpPr>
            <a:spLocks noGrp="1"/>
          </p:cNvSpPr>
          <p:nvPr>
            <p:ph type="title"/>
          </p:nvPr>
        </p:nvSpPr>
        <p:spPr/>
        <p:txBody>
          <a:bodyPr/>
          <a:lstStyle/>
          <a:p>
            <a:r>
              <a:rPr lang="en-US" b="1" dirty="0">
                <a:solidFill>
                  <a:schemeClr val="accent1"/>
                </a:solidFill>
              </a:rPr>
              <a:t>Key findings by varying Sedimentation Efficiency Parameter</a:t>
            </a:r>
            <a:endParaRPr lang="en-IN" b="1" dirty="0">
              <a:solidFill>
                <a:schemeClr val="accent1"/>
              </a:solidFill>
            </a:endParaRPr>
          </a:p>
        </p:txBody>
      </p:sp>
      <p:sp>
        <p:nvSpPr>
          <p:cNvPr id="3" name="Content Placeholder 2">
            <a:extLst>
              <a:ext uri="{FF2B5EF4-FFF2-40B4-BE49-F238E27FC236}">
                <a16:creationId xmlns:a16="http://schemas.microsoft.com/office/drawing/2014/main" id="{5E31360D-F2FD-FCB0-6AA8-1A2D1F360BDA}"/>
              </a:ext>
            </a:extLst>
          </p:cNvPr>
          <p:cNvSpPr>
            <a:spLocks noGrp="1"/>
          </p:cNvSpPr>
          <p:nvPr>
            <p:ph idx="1"/>
          </p:nvPr>
        </p:nvSpPr>
        <p:spPr/>
        <p:txBody>
          <a:bodyPr/>
          <a:lstStyle/>
          <a:p>
            <a:r>
              <a:rPr lang="en-US" dirty="0"/>
              <a:t>Higher sedimentation efficiency values results in lower condensate mass mixing ratio values, they also tend to form clouds in colder temperatures</a:t>
            </a:r>
          </a:p>
          <a:p>
            <a:r>
              <a:rPr lang="en-US" dirty="0"/>
              <a:t>Higher sedimentation efficiency value results in lower column density.</a:t>
            </a:r>
          </a:p>
          <a:p>
            <a:r>
              <a:rPr lang="en-US" dirty="0"/>
              <a:t>Higher sedimentation efficiency value results in bigger effective droplet radius.</a:t>
            </a:r>
          </a:p>
          <a:p>
            <a:endParaRPr lang="en-IN" dirty="0"/>
          </a:p>
        </p:txBody>
      </p:sp>
      <p:sp>
        <p:nvSpPr>
          <p:cNvPr id="6" name="Rectangle 5">
            <a:extLst>
              <a:ext uri="{FF2B5EF4-FFF2-40B4-BE49-F238E27FC236}">
                <a16:creationId xmlns:a16="http://schemas.microsoft.com/office/drawing/2014/main" id="{6B0C632D-9580-BA20-1D65-4D0185393EA4}"/>
              </a:ext>
            </a:extLst>
          </p:cNvPr>
          <p:cNvSpPr/>
          <p:nvPr/>
        </p:nvSpPr>
        <p:spPr>
          <a:xfrm>
            <a:off x="9575515" y="606175"/>
            <a:ext cx="2111505" cy="108451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7">
            <a:extLst>
              <a:ext uri="{FF2B5EF4-FFF2-40B4-BE49-F238E27FC236}">
                <a16:creationId xmlns:a16="http://schemas.microsoft.com/office/drawing/2014/main" id="{67015B0D-E4F3-7D1B-C3B0-ACBF05EA9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4960" y="767920"/>
            <a:ext cx="1812614" cy="761021"/>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CB7386B4-553D-64F6-4D69-878C892FDA0E}"/>
                  </a:ext>
                </a:extLst>
              </p14:cNvPr>
              <p14:cNvContentPartPr/>
              <p14:nvPr/>
            </p14:nvContentPartPr>
            <p14:xfrm>
              <a:off x="11075529" y="1489344"/>
              <a:ext cx="360" cy="360"/>
            </p14:xfrm>
          </p:contentPart>
        </mc:Choice>
        <mc:Fallback xmlns="">
          <p:pic>
            <p:nvPicPr>
              <p:cNvPr id="9" name="Ink 8">
                <a:extLst>
                  <a:ext uri="{FF2B5EF4-FFF2-40B4-BE49-F238E27FC236}">
                    <a16:creationId xmlns:a16="http://schemas.microsoft.com/office/drawing/2014/main" id="{CB7386B4-553D-64F6-4D69-878C892FDA0E}"/>
                  </a:ext>
                </a:extLst>
              </p:cNvPr>
              <p:cNvPicPr/>
              <p:nvPr/>
            </p:nvPicPr>
            <p:blipFill>
              <a:blip r:embed="rId4"/>
              <a:stretch>
                <a:fillRect/>
              </a:stretch>
            </p:blipFill>
            <p:spPr>
              <a:xfrm>
                <a:off x="11069409" y="148322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EACA6B15-9963-8657-B497-01F8302EE0C5}"/>
                  </a:ext>
                </a:extLst>
              </p14:cNvPr>
              <p14:cNvContentPartPr/>
              <p14:nvPr/>
            </p14:nvContentPartPr>
            <p14:xfrm>
              <a:off x="11054649" y="1252824"/>
              <a:ext cx="360" cy="360"/>
            </p14:xfrm>
          </p:contentPart>
        </mc:Choice>
        <mc:Fallback xmlns="">
          <p:pic>
            <p:nvPicPr>
              <p:cNvPr id="10" name="Ink 9">
                <a:extLst>
                  <a:ext uri="{FF2B5EF4-FFF2-40B4-BE49-F238E27FC236}">
                    <a16:creationId xmlns:a16="http://schemas.microsoft.com/office/drawing/2014/main" id="{EACA6B15-9963-8657-B497-01F8302EE0C5}"/>
                  </a:ext>
                </a:extLst>
              </p:cNvPr>
              <p:cNvPicPr/>
              <p:nvPr/>
            </p:nvPicPr>
            <p:blipFill>
              <a:blip r:embed="rId4"/>
              <a:stretch>
                <a:fillRect/>
              </a:stretch>
            </p:blipFill>
            <p:spPr>
              <a:xfrm>
                <a:off x="11048529" y="124670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8199EBF1-2405-BB71-49A4-4DC56A994975}"/>
                  </a:ext>
                </a:extLst>
              </p14:cNvPr>
              <p14:cNvContentPartPr/>
              <p14:nvPr/>
            </p14:nvContentPartPr>
            <p14:xfrm>
              <a:off x="-637071" y="1325184"/>
              <a:ext cx="360" cy="360"/>
            </p14:xfrm>
          </p:contentPart>
        </mc:Choice>
        <mc:Fallback xmlns="">
          <p:pic>
            <p:nvPicPr>
              <p:cNvPr id="11" name="Ink 10">
                <a:extLst>
                  <a:ext uri="{FF2B5EF4-FFF2-40B4-BE49-F238E27FC236}">
                    <a16:creationId xmlns:a16="http://schemas.microsoft.com/office/drawing/2014/main" id="{8199EBF1-2405-BB71-49A4-4DC56A994975}"/>
                  </a:ext>
                </a:extLst>
              </p:cNvPr>
              <p:cNvPicPr/>
              <p:nvPr/>
            </p:nvPicPr>
            <p:blipFill>
              <a:blip r:embed="rId4"/>
              <a:stretch>
                <a:fillRect/>
              </a:stretch>
            </p:blipFill>
            <p:spPr>
              <a:xfrm>
                <a:off x="-643191" y="1319064"/>
                <a:ext cx="12600" cy="12600"/>
              </a:xfrm>
              <a:prstGeom prst="rect">
                <a:avLst/>
              </a:prstGeom>
            </p:spPr>
          </p:pic>
        </mc:Fallback>
      </mc:AlternateContent>
    </p:spTree>
    <p:extLst>
      <p:ext uri="{BB962C8B-B14F-4D97-AF65-F5344CB8AC3E}">
        <p14:creationId xmlns:p14="http://schemas.microsoft.com/office/powerpoint/2010/main" val="1213702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6DF9-1545-30D5-C9BF-0C983F4FEDA2}"/>
              </a:ext>
            </a:extLst>
          </p:cNvPr>
          <p:cNvSpPr>
            <a:spLocks noGrp="1"/>
          </p:cNvSpPr>
          <p:nvPr>
            <p:ph type="title"/>
          </p:nvPr>
        </p:nvSpPr>
        <p:spPr>
          <a:xfrm>
            <a:off x="153469" y="1"/>
            <a:ext cx="11200331" cy="1690688"/>
          </a:xfrm>
        </p:spPr>
        <p:txBody>
          <a:bodyPr/>
          <a:lstStyle/>
          <a:p>
            <a:r>
              <a:rPr lang="en-US" b="1" dirty="0">
                <a:solidFill>
                  <a:schemeClr val="accent1"/>
                </a:solidFill>
              </a:rPr>
              <a:t>WASP -17b (A hot Jupiter case study)</a:t>
            </a:r>
            <a:endParaRPr lang="en-IN" b="1" dirty="0">
              <a:solidFill>
                <a:schemeClr val="accent1"/>
              </a:solidFill>
            </a:endParaRPr>
          </a:p>
        </p:txBody>
      </p:sp>
      <p:pic>
        <p:nvPicPr>
          <p:cNvPr id="5" name="Content Placeholder 4">
            <a:extLst>
              <a:ext uri="{FF2B5EF4-FFF2-40B4-BE49-F238E27FC236}">
                <a16:creationId xmlns:a16="http://schemas.microsoft.com/office/drawing/2014/main" id="{66B57201-2C55-67A6-8FB0-30613D0D01C9}"/>
              </a:ext>
            </a:extLst>
          </p:cNvPr>
          <p:cNvPicPr>
            <a:picLocks noGrp="1" noChangeAspect="1"/>
          </p:cNvPicPr>
          <p:nvPr>
            <p:ph idx="1"/>
          </p:nvPr>
        </p:nvPicPr>
        <p:blipFill>
          <a:blip r:embed="rId3"/>
          <a:stretch>
            <a:fillRect/>
          </a:stretch>
        </p:blipFill>
        <p:spPr>
          <a:xfrm>
            <a:off x="471880" y="1458168"/>
            <a:ext cx="4344006" cy="3134162"/>
          </a:xfrm>
          <a:prstGeom prst="rect">
            <a:avLst/>
          </a:prstGeom>
        </p:spPr>
      </p:pic>
      <p:sp>
        <p:nvSpPr>
          <p:cNvPr id="6" name="TextBox 5">
            <a:extLst>
              <a:ext uri="{FF2B5EF4-FFF2-40B4-BE49-F238E27FC236}">
                <a16:creationId xmlns:a16="http://schemas.microsoft.com/office/drawing/2014/main" id="{DDD509BF-B0D6-6E93-B3A2-6E3C231FA793}"/>
              </a:ext>
            </a:extLst>
          </p:cNvPr>
          <p:cNvSpPr txBox="1"/>
          <p:nvPr/>
        </p:nvSpPr>
        <p:spPr>
          <a:xfrm>
            <a:off x="8366815" y="6036174"/>
            <a:ext cx="3846181" cy="369332"/>
          </a:xfrm>
          <a:prstGeom prst="rect">
            <a:avLst/>
          </a:prstGeom>
          <a:noFill/>
        </p:spPr>
        <p:txBody>
          <a:bodyPr wrap="none" rtlCol="0">
            <a:spAutoFit/>
          </a:bodyPr>
          <a:lstStyle/>
          <a:p>
            <a:r>
              <a:rPr lang="en-US" dirty="0"/>
              <a:t>PT profile taken from </a:t>
            </a:r>
            <a:r>
              <a:rPr lang="en-US" i="1" dirty="0"/>
              <a:t>Grant et. al. 2023</a:t>
            </a:r>
            <a:endParaRPr lang="en-IN" i="1" dirty="0"/>
          </a:p>
        </p:txBody>
      </p:sp>
      <p:sp>
        <p:nvSpPr>
          <p:cNvPr id="7" name="TextBox 6">
            <a:extLst>
              <a:ext uri="{FF2B5EF4-FFF2-40B4-BE49-F238E27FC236}">
                <a16:creationId xmlns:a16="http://schemas.microsoft.com/office/drawing/2014/main" id="{AD891578-B546-6C8F-ADC8-70891D8B7164}"/>
              </a:ext>
            </a:extLst>
          </p:cNvPr>
          <p:cNvSpPr txBox="1"/>
          <p:nvPr/>
        </p:nvSpPr>
        <p:spPr>
          <a:xfrm>
            <a:off x="750013" y="5014326"/>
            <a:ext cx="4900774" cy="1754326"/>
          </a:xfrm>
          <a:prstGeom prst="rect">
            <a:avLst/>
          </a:prstGeom>
          <a:noFill/>
        </p:spPr>
        <p:txBody>
          <a:bodyPr wrap="square" rtlCol="0">
            <a:spAutoFit/>
          </a:bodyPr>
          <a:lstStyle/>
          <a:p>
            <a:r>
              <a:rPr lang="en-US" dirty="0"/>
              <a:t>The Grant.et. Al. 2023 discusses about the detection of SiO</a:t>
            </a:r>
            <a:r>
              <a:rPr lang="en-US" baseline="-25000" dirty="0"/>
              <a:t>2</a:t>
            </a:r>
            <a:r>
              <a:rPr lang="en-US" dirty="0"/>
              <a:t> and Al</a:t>
            </a:r>
            <a:r>
              <a:rPr lang="en-US" baseline="-25000" dirty="0"/>
              <a:t>2</a:t>
            </a:r>
            <a:r>
              <a:rPr lang="en-US" dirty="0"/>
              <a:t>O</a:t>
            </a:r>
            <a:r>
              <a:rPr lang="en-US" baseline="-25000" dirty="0"/>
              <a:t>3</a:t>
            </a:r>
            <a:r>
              <a:rPr lang="en-US" dirty="0"/>
              <a:t> species, given the range of temperature expected in WASP -17b’s atmosphere and presence of a clear 8.6 micro meter spectroscopic feature – crucial for detection of SiO</a:t>
            </a:r>
            <a:r>
              <a:rPr lang="en-US" baseline="-25000" dirty="0"/>
              <a:t>2</a:t>
            </a:r>
            <a:r>
              <a:rPr lang="en-US" dirty="0"/>
              <a:t> and Al</a:t>
            </a:r>
            <a:r>
              <a:rPr lang="en-US" baseline="-25000" dirty="0"/>
              <a:t>2</a:t>
            </a:r>
            <a:r>
              <a:rPr lang="en-US" dirty="0"/>
              <a:t>O</a:t>
            </a:r>
            <a:r>
              <a:rPr lang="en-US" baseline="-25000" dirty="0"/>
              <a:t>3</a:t>
            </a:r>
            <a:endParaRPr lang="en-IN" baseline="-25000" dirty="0"/>
          </a:p>
        </p:txBody>
      </p:sp>
      <p:pic>
        <p:nvPicPr>
          <p:cNvPr id="8196" name="Picture 4">
            <a:extLst>
              <a:ext uri="{FF2B5EF4-FFF2-40B4-BE49-F238E27FC236}">
                <a16:creationId xmlns:a16="http://schemas.microsoft.com/office/drawing/2014/main" id="{5A52C2E0-9727-74A1-B44D-C19F80B993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1006" y="1233773"/>
            <a:ext cx="6767525" cy="4726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483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9E47-EFA1-5D8E-2C07-FCAD8634396B}"/>
              </a:ext>
            </a:extLst>
          </p:cNvPr>
          <p:cNvSpPr>
            <a:spLocks noGrp="1"/>
          </p:cNvSpPr>
          <p:nvPr>
            <p:ph type="title"/>
          </p:nvPr>
        </p:nvSpPr>
        <p:spPr>
          <a:xfrm>
            <a:off x="349321" y="1"/>
            <a:ext cx="11004479" cy="1690688"/>
          </a:xfrm>
        </p:spPr>
        <p:txBody>
          <a:bodyPr/>
          <a:lstStyle/>
          <a:p>
            <a:r>
              <a:rPr lang="en-US" b="1" dirty="0">
                <a:solidFill>
                  <a:schemeClr val="accent1"/>
                </a:solidFill>
              </a:rPr>
              <a:t>A study of condensate mass mixing ratio across various metallicities</a:t>
            </a:r>
            <a:endParaRPr lang="en-IN" b="1" dirty="0">
              <a:solidFill>
                <a:schemeClr val="accent1"/>
              </a:solidFill>
            </a:endParaRPr>
          </a:p>
        </p:txBody>
      </p:sp>
      <p:sp>
        <p:nvSpPr>
          <p:cNvPr id="7" name="TextBox 6">
            <a:extLst>
              <a:ext uri="{FF2B5EF4-FFF2-40B4-BE49-F238E27FC236}">
                <a16:creationId xmlns:a16="http://schemas.microsoft.com/office/drawing/2014/main" id="{FF55871C-D080-4174-6C97-60D141422C74}"/>
              </a:ext>
            </a:extLst>
          </p:cNvPr>
          <p:cNvSpPr txBox="1"/>
          <p:nvPr/>
        </p:nvSpPr>
        <p:spPr>
          <a:xfrm>
            <a:off x="7229582" y="4039588"/>
            <a:ext cx="4839128" cy="25340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The higher the metallicity, the more is the cloud formation.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Higher metallicity leads to the shift to the cloud base at a higher pressure</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Clouds are formed at high temperature for higher metallicity</a:t>
            </a:r>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630E096-E0DA-3E96-D331-5DEF34D4ADAB}"/>
                  </a:ext>
                </a:extLst>
              </p:cNvPr>
              <p:cNvSpPr txBox="1"/>
              <p:nvPr/>
            </p:nvSpPr>
            <p:spPr>
              <a:xfrm>
                <a:off x="7758701" y="1941249"/>
                <a:ext cx="3780889" cy="1754326"/>
              </a:xfrm>
              <a:prstGeom prst="rect">
                <a:avLst/>
              </a:prstGeom>
              <a:noFill/>
            </p:spPr>
            <p:txBody>
              <a:bodyPr wrap="square" rtlCol="0">
                <a:spAutoFit/>
              </a:bodyPr>
              <a:lstStyle/>
              <a:p>
                <a:r>
                  <a:rPr lang="en-US" dirty="0"/>
                  <a:t>q</a:t>
                </a:r>
                <a:r>
                  <a:rPr lang="en-US" baseline="-25000" dirty="0"/>
                  <a:t>v</a:t>
                </a:r>
                <a:r>
                  <a:rPr lang="en-US" dirty="0"/>
                  <a:t> = gas mass mixing ratio </a:t>
                </a:r>
              </a:p>
              <a:p>
                <a:r>
                  <a:rPr lang="en-US" dirty="0" err="1"/>
                  <a:t>mh</a:t>
                </a:r>
                <a:r>
                  <a:rPr lang="en-US" dirty="0"/>
                  <a:t> = metallicity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𝑠𝑜𝑙𝑎𝑟</m:t>
                    </m:r>
                  </m:oMath>
                </a14:m>
                <a:endParaRPr lang="en-US" dirty="0"/>
              </a:p>
              <a:p>
                <a:r>
                  <a:rPr lang="en-US" dirty="0" err="1"/>
                  <a:t>Mw</a:t>
                </a:r>
                <a:r>
                  <a:rPr lang="en-US" baseline="-25000" dirty="0" err="1"/>
                  <a:t>species</a:t>
                </a:r>
                <a:r>
                  <a:rPr lang="en-US" dirty="0"/>
                  <a:t> = mol. Weight of SiO2</a:t>
                </a:r>
              </a:p>
              <a:p>
                <a:r>
                  <a:rPr lang="en-US" dirty="0" err="1"/>
                  <a:t>Mw</a:t>
                </a:r>
                <a:r>
                  <a:rPr lang="en-US" baseline="-25000" dirty="0" err="1"/>
                  <a:t>atmosphere</a:t>
                </a:r>
                <a:r>
                  <a:rPr lang="en-US" dirty="0"/>
                  <a:t> = mol. Wt. of dominant species in atmosphere of planet =  H and He</a:t>
                </a:r>
                <a:endParaRPr lang="en-IN" dirty="0"/>
              </a:p>
            </p:txBody>
          </p:sp>
        </mc:Choice>
        <mc:Fallback xmlns="">
          <p:sp>
            <p:nvSpPr>
              <p:cNvPr id="10" name="TextBox 9">
                <a:extLst>
                  <a:ext uri="{FF2B5EF4-FFF2-40B4-BE49-F238E27FC236}">
                    <a16:creationId xmlns:a16="http://schemas.microsoft.com/office/drawing/2014/main" id="{B630E096-E0DA-3E96-D331-5DEF34D4ADAB}"/>
                  </a:ext>
                </a:extLst>
              </p:cNvPr>
              <p:cNvSpPr txBox="1">
                <a:spLocks noRot="1" noChangeAspect="1" noMove="1" noResize="1" noEditPoints="1" noAdjustHandles="1" noChangeArrowheads="1" noChangeShapeType="1" noTextEdit="1"/>
              </p:cNvSpPr>
              <p:nvPr/>
            </p:nvSpPr>
            <p:spPr>
              <a:xfrm>
                <a:off x="7758701" y="1941249"/>
                <a:ext cx="3780889" cy="1754326"/>
              </a:xfrm>
              <a:prstGeom prst="rect">
                <a:avLst/>
              </a:prstGeom>
              <a:blipFill>
                <a:blip r:embed="rId3"/>
                <a:stretch>
                  <a:fillRect l="-1452" t="-1736" b="-4514"/>
                </a:stretch>
              </a:blipFill>
            </p:spPr>
            <p:txBody>
              <a:bodyPr/>
              <a:lstStyle/>
              <a:p>
                <a:r>
                  <a:rPr lang="en-IN">
                    <a:noFill/>
                  </a:rPr>
                  <a:t> </a:t>
                </a:r>
              </a:p>
            </p:txBody>
          </p:sp>
        </mc:Fallback>
      </mc:AlternateContent>
      <p:sp>
        <p:nvSpPr>
          <p:cNvPr id="11" name="Rectangle 10">
            <a:extLst>
              <a:ext uri="{FF2B5EF4-FFF2-40B4-BE49-F238E27FC236}">
                <a16:creationId xmlns:a16="http://schemas.microsoft.com/office/drawing/2014/main" id="{FE47565A-611C-EAF7-BCF6-CAD29C34FA04}"/>
              </a:ext>
            </a:extLst>
          </p:cNvPr>
          <p:cNvSpPr/>
          <p:nvPr/>
        </p:nvSpPr>
        <p:spPr>
          <a:xfrm>
            <a:off x="7469312" y="1010651"/>
            <a:ext cx="4070278" cy="965204"/>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101297E9-3CA4-02E7-9115-10551383CE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32580" y="1107436"/>
            <a:ext cx="3343742" cy="771633"/>
          </a:xfrm>
          <a:prstGeom prst="rect">
            <a:avLst/>
          </a:prstGeom>
        </p:spPr>
      </p:pic>
      <p:pic>
        <p:nvPicPr>
          <p:cNvPr id="1026" name="Picture 2">
            <a:extLst>
              <a:ext uri="{FF2B5EF4-FFF2-40B4-BE49-F238E27FC236}">
                <a16:creationId xmlns:a16="http://schemas.microsoft.com/office/drawing/2014/main" id="{31A8CB0E-44E6-3C08-94C6-28AC7A11D3AC}"/>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63531" y="1345915"/>
            <a:ext cx="7306845" cy="5510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4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27CCC-96E5-D259-3854-C7CEFB4104EC}"/>
              </a:ext>
            </a:extLst>
          </p:cNvPr>
          <p:cNvSpPr>
            <a:spLocks noGrp="1"/>
          </p:cNvSpPr>
          <p:nvPr>
            <p:ph type="title"/>
          </p:nvPr>
        </p:nvSpPr>
        <p:spPr>
          <a:xfrm>
            <a:off x="108734" y="63873"/>
            <a:ext cx="10515600" cy="1325563"/>
          </a:xfrm>
        </p:spPr>
        <p:txBody>
          <a:bodyPr/>
          <a:lstStyle/>
          <a:p>
            <a:r>
              <a:rPr lang="en-US" b="1" dirty="0">
                <a:solidFill>
                  <a:schemeClr val="accent1"/>
                </a:solidFill>
              </a:rPr>
              <a:t>Variation of droplet radius across various metallicities</a:t>
            </a:r>
            <a:endParaRPr lang="en-IN" b="1" dirty="0">
              <a:solidFill>
                <a:schemeClr val="accent1"/>
              </a:solidFill>
            </a:endParaRPr>
          </a:p>
        </p:txBody>
      </p:sp>
      <p:sp>
        <p:nvSpPr>
          <p:cNvPr id="5" name="TextBox 4">
            <a:extLst>
              <a:ext uri="{FF2B5EF4-FFF2-40B4-BE49-F238E27FC236}">
                <a16:creationId xmlns:a16="http://schemas.microsoft.com/office/drawing/2014/main" id="{2E82618D-A608-CDFF-9FFE-FE0775BC8920}"/>
              </a:ext>
            </a:extLst>
          </p:cNvPr>
          <p:cNvSpPr txBox="1"/>
          <p:nvPr/>
        </p:nvSpPr>
        <p:spPr>
          <a:xfrm>
            <a:off x="8096037" y="2547990"/>
            <a:ext cx="3431568" cy="923330"/>
          </a:xfrm>
          <a:prstGeom prst="rect">
            <a:avLst/>
          </a:prstGeom>
          <a:noFill/>
        </p:spPr>
        <p:txBody>
          <a:bodyPr wrap="square" rtlCol="0">
            <a:spAutoFit/>
          </a:bodyPr>
          <a:lstStyle/>
          <a:p>
            <a:r>
              <a:rPr lang="en-US" dirty="0"/>
              <a:t>Higher the metallicity higher is the effective droplet radius.</a:t>
            </a:r>
          </a:p>
          <a:p>
            <a:endParaRPr lang="en-US" dirty="0"/>
          </a:p>
        </p:txBody>
      </p:sp>
      <p:pic>
        <p:nvPicPr>
          <p:cNvPr id="10242" name="Picture 2">
            <a:extLst>
              <a:ext uri="{FF2B5EF4-FFF2-40B4-BE49-F238E27FC236}">
                <a16:creationId xmlns:a16="http://schemas.microsoft.com/office/drawing/2014/main" id="{32D70DE2-8871-E237-9915-FD45C2A5F2F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49321" y="1362390"/>
            <a:ext cx="7839182" cy="52740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9D781B9-ACB9-2949-4FB9-ECD4BD995F19}"/>
              </a:ext>
            </a:extLst>
          </p:cNvPr>
          <p:cNvSpPr txBox="1"/>
          <p:nvPr/>
        </p:nvSpPr>
        <p:spPr>
          <a:xfrm>
            <a:off x="8393725" y="5856271"/>
            <a:ext cx="3503488" cy="646331"/>
          </a:xfrm>
          <a:prstGeom prst="rect">
            <a:avLst/>
          </a:prstGeom>
          <a:noFill/>
        </p:spPr>
        <p:txBody>
          <a:bodyPr wrap="square" rtlCol="0">
            <a:spAutoFit/>
          </a:bodyPr>
          <a:lstStyle/>
          <a:p>
            <a:r>
              <a:rPr lang="en-US" dirty="0" err="1"/>
              <a:t>F</a:t>
            </a:r>
            <a:r>
              <a:rPr lang="en-US" baseline="-25000" dirty="0" err="1"/>
              <a:t>sed</a:t>
            </a:r>
            <a:r>
              <a:rPr lang="en-US" dirty="0"/>
              <a:t> = 0.1 , </a:t>
            </a:r>
            <a:r>
              <a:rPr lang="en-US" dirty="0" err="1"/>
              <a:t>K</a:t>
            </a:r>
            <a:r>
              <a:rPr lang="en-US" baseline="-25000" dirty="0" err="1"/>
              <a:t>zz</a:t>
            </a:r>
            <a:r>
              <a:rPr lang="en-US" dirty="0"/>
              <a:t> = 10</a:t>
            </a:r>
            <a:r>
              <a:rPr lang="en-US" baseline="30000" dirty="0"/>
              <a:t>9  (</a:t>
            </a:r>
            <a:r>
              <a:rPr lang="en-US" dirty="0"/>
              <a:t>parameter taken from Grant et.al. 2023</a:t>
            </a:r>
            <a:endParaRPr lang="en-IN" dirty="0"/>
          </a:p>
        </p:txBody>
      </p:sp>
      <p:pic>
        <p:nvPicPr>
          <p:cNvPr id="4" name="Picture 3">
            <a:extLst>
              <a:ext uri="{FF2B5EF4-FFF2-40B4-BE49-F238E27FC236}">
                <a16:creationId xmlns:a16="http://schemas.microsoft.com/office/drawing/2014/main" id="{88412AB3-8A3F-C585-503B-E9AAB7DF3C00}"/>
              </a:ext>
            </a:extLst>
          </p:cNvPr>
          <p:cNvPicPr>
            <a:picLocks noChangeAspect="1"/>
          </p:cNvPicPr>
          <p:nvPr/>
        </p:nvPicPr>
        <p:blipFill>
          <a:blip r:embed="rId4"/>
          <a:stretch>
            <a:fillRect/>
          </a:stretch>
        </p:blipFill>
        <p:spPr>
          <a:xfrm>
            <a:off x="8504708" y="1016470"/>
            <a:ext cx="2933158" cy="745932"/>
          </a:xfrm>
          <a:prstGeom prst="rect">
            <a:avLst/>
          </a:prstGeom>
        </p:spPr>
      </p:pic>
    </p:spTree>
    <p:extLst>
      <p:ext uri="{BB962C8B-B14F-4D97-AF65-F5344CB8AC3E}">
        <p14:creationId xmlns:p14="http://schemas.microsoft.com/office/powerpoint/2010/main" val="1584020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239AD-23EE-3F60-DE8E-A3A059646313}"/>
              </a:ext>
            </a:extLst>
          </p:cNvPr>
          <p:cNvSpPr>
            <a:spLocks noGrp="1"/>
          </p:cNvSpPr>
          <p:nvPr>
            <p:ph type="title"/>
          </p:nvPr>
        </p:nvSpPr>
        <p:spPr>
          <a:xfrm>
            <a:off x="201202" y="104485"/>
            <a:ext cx="10515600" cy="1325563"/>
          </a:xfrm>
        </p:spPr>
        <p:txBody>
          <a:bodyPr/>
          <a:lstStyle/>
          <a:p>
            <a:r>
              <a:rPr lang="en-US" b="1" dirty="0">
                <a:solidFill>
                  <a:schemeClr val="accent1"/>
                </a:solidFill>
              </a:rPr>
              <a:t>Variation of Column Density across various metallicities</a:t>
            </a:r>
            <a:endParaRPr lang="en-IN" dirty="0"/>
          </a:p>
        </p:txBody>
      </p:sp>
      <p:sp>
        <p:nvSpPr>
          <p:cNvPr id="5" name="TextBox 4">
            <a:extLst>
              <a:ext uri="{FF2B5EF4-FFF2-40B4-BE49-F238E27FC236}">
                <a16:creationId xmlns:a16="http://schemas.microsoft.com/office/drawing/2014/main" id="{4FE7067F-14E6-C8A4-214B-5615FC34956F}"/>
              </a:ext>
            </a:extLst>
          </p:cNvPr>
          <p:cNvSpPr txBox="1"/>
          <p:nvPr/>
        </p:nvSpPr>
        <p:spPr>
          <a:xfrm>
            <a:off x="8527551" y="2660853"/>
            <a:ext cx="3554858" cy="646331"/>
          </a:xfrm>
          <a:prstGeom prst="rect">
            <a:avLst/>
          </a:prstGeom>
          <a:noFill/>
        </p:spPr>
        <p:txBody>
          <a:bodyPr wrap="square" rtlCol="0">
            <a:spAutoFit/>
          </a:bodyPr>
          <a:lstStyle/>
          <a:p>
            <a:r>
              <a:rPr lang="en-US" dirty="0"/>
              <a:t>Higher the metallicity, higher is the Column density.</a:t>
            </a:r>
          </a:p>
        </p:txBody>
      </p:sp>
      <p:sp>
        <p:nvSpPr>
          <p:cNvPr id="3" name="Content Placeholder 2">
            <a:extLst>
              <a:ext uri="{FF2B5EF4-FFF2-40B4-BE49-F238E27FC236}">
                <a16:creationId xmlns:a16="http://schemas.microsoft.com/office/drawing/2014/main" id="{350C6FE9-4E7A-D6F3-7646-22370130F453}"/>
              </a:ext>
            </a:extLst>
          </p:cNvPr>
          <p:cNvSpPr>
            <a:spLocks noGrp="1"/>
          </p:cNvSpPr>
          <p:nvPr>
            <p:ph idx="1"/>
          </p:nvPr>
        </p:nvSpPr>
        <p:spPr>
          <a:xfrm>
            <a:off x="838200" y="3924727"/>
            <a:ext cx="6014663" cy="2252235"/>
          </a:xfrm>
        </p:spPr>
        <p:txBody>
          <a:bodyPr/>
          <a:lstStyle/>
          <a:p>
            <a:pPr marL="0" indent="0">
              <a:buNone/>
            </a:pPr>
            <a:endParaRPr lang="en-IN" dirty="0"/>
          </a:p>
        </p:txBody>
      </p:sp>
      <p:pic>
        <p:nvPicPr>
          <p:cNvPr id="4098" name="Picture 2">
            <a:extLst>
              <a:ext uri="{FF2B5EF4-FFF2-40B4-BE49-F238E27FC236}">
                <a16:creationId xmlns:a16="http://schemas.microsoft.com/office/drawing/2014/main" id="{DED07A8B-DABE-886F-4CB0-E50A6A0C4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86309"/>
            <a:ext cx="8630292" cy="5424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639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54EF8-C075-1FD5-29E9-97710272F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0D15C-BC94-6FCB-0D9B-C69E5868D2EB}"/>
              </a:ext>
            </a:extLst>
          </p:cNvPr>
          <p:cNvSpPr>
            <a:spLocks noGrp="1"/>
          </p:cNvSpPr>
          <p:nvPr>
            <p:ph type="title"/>
          </p:nvPr>
        </p:nvSpPr>
        <p:spPr/>
        <p:txBody>
          <a:bodyPr/>
          <a:lstStyle/>
          <a:p>
            <a:r>
              <a:rPr lang="en-US" b="1" dirty="0">
                <a:solidFill>
                  <a:schemeClr val="accent1"/>
                </a:solidFill>
              </a:rPr>
              <a:t>Key findings by varying Metallicity</a:t>
            </a:r>
            <a:endParaRPr lang="en-IN" b="1" dirty="0">
              <a:solidFill>
                <a:schemeClr val="accent1"/>
              </a:solidFill>
            </a:endParaRPr>
          </a:p>
        </p:txBody>
      </p:sp>
      <p:sp>
        <p:nvSpPr>
          <p:cNvPr id="3" name="Content Placeholder 2">
            <a:extLst>
              <a:ext uri="{FF2B5EF4-FFF2-40B4-BE49-F238E27FC236}">
                <a16:creationId xmlns:a16="http://schemas.microsoft.com/office/drawing/2014/main" id="{9FF7F4B5-B8A3-6EF7-6F7E-6EAD5EA5AB08}"/>
              </a:ext>
            </a:extLst>
          </p:cNvPr>
          <p:cNvSpPr>
            <a:spLocks noGrp="1"/>
          </p:cNvSpPr>
          <p:nvPr>
            <p:ph idx="1"/>
          </p:nvPr>
        </p:nvSpPr>
        <p:spPr/>
        <p:txBody>
          <a:bodyPr/>
          <a:lstStyle/>
          <a:p>
            <a:r>
              <a:rPr lang="en-US" dirty="0"/>
              <a:t>Higher metallicity values results in shift in cloud base to higher pressure values , making the clouds heavy and form more than that of lower metallicity values</a:t>
            </a:r>
          </a:p>
          <a:p>
            <a:r>
              <a:rPr lang="en-IN" dirty="0"/>
              <a:t>Higher metallicity have higher effective droplet radius</a:t>
            </a:r>
          </a:p>
          <a:p>
            <a:r>
              <a:rPr lang="en-IN" dirty="0"/>
              <a:t>Higher metallicity also have higher column density</a:t>
            </a:r>
          </a:p>
          <a:p>
            <a:endParaRPr lang="en-IN" dirty="0"/>
          </a:p>
          <a:p>
            <a:endParaRPr lang="en-IN" dirty="0"/>
          </a:p>
          <a:p>
            <a:pPr marL="0" indent="0">
              <a:buNone/>
            </a:pPr>
            <a:r>
              <a:rPr lang="en-US" i="1" dirty="0"/>
              <a:t>Metallicity is the abundance of elements heavier than hydrogen and helium present in an astronomical object (stars and planets)</a:t>
            </a:r>
            <a:endParaRPr lang="en-IN" i="1" dirty="0"/>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BE64E660-C95F-FE68-6B58-7529039440AD}"/>
                  </a:ext>
                </a:extLst>
              </p14:cNvPr>
              <p14:cNvContentPartPr/>
              <p14:nvPr/>
            </p14:nvContentPartPr>
            <p14:xfrm>
              <a:off x="11075529" y="1489344"/>
              <a:ext cx="360" cy="360"/>
            </p14:xfrm>
          </p:contentPart>
        </mc:Choice>
        <mc:Fallback xmlns="">
          <p:pic>
            <p:nvPicPr>
              <p:cNvPr id="9" name="Ink 8">
                <a:extLst>
                  <a:ext uri="{FF2B5EF4-FFF2-40B4-BE49-F238E27FC236}">
                    <a16:creationId xmlns:a16="http://schemas.microsoft.com/office/drawing/2014/main" id="{CB7386B4-553D-64F6-4D69-878C892FDA0E}"/>
                  </a:ext>
                </a:extLst>
              </p:cNvPr>
              <p:cNvPicPr/>
              <p:nvPr/>
            </p:nvPicPr>
            <p:blipFill>
              <a:blip r:embed="rId4"/>
              <a:stretch>
                <a:fillRect/>
              </a:stretch>
            </p:blipFill>
            <p:spPr>
              <a:xfrm>
                <a:off x="11069409" y="148322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D4DE3E5-93B5-2D12-A655-99476F86829A}"/>
                  </a:ext>
                </a:extLst>
              </p14:cNvPr>
              <p14:cNvContentPartPr/>
              <p14:nvPr/>
            </p14:nvContentPartPr>
            <p14:xfrm>
              <a:off x="11054649" y="1252824"/>
              <a:ext cx="360" cy="360"/>
            </p14:xfrm>
          </p:contentPart>
        </mc:Choice>
        <mc:Fallback xmlns="">
          <p:pic>
            <p:nvPicPr>
              <p:cNvPr id="10" name="Ink 9">
                <a:extLst>
                  <a:ext uri="{FF2B5EF4-FFF2-40B4-BE49-F238E27FC236}">
                    <a16:creationId xmlns:a16="http://schemas.microsoft.com/office/drawing/2014/main" id="{EACA6B15-9963-8657-B497-01F8302EE0C5}"/>
                  </a:ext>
                </a:extLst>
              </p:cNvPr>
              <p:cNvPicPr/>
              <p:nvPr/>
            </p:nvPicPr>
            <p:blipFill>
              <a:blip r:embed="rId4"/>
              <a:stretch>
                <a:fillRect/>
              </a:stretch>
            </p:blipFill>
            <p:spPr>
              <a:xfrm>
                <a:off x="11048529" y="124670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550013D6-AE0C-FBA4-BF6A-1E75AA44BA7F}"/>
                  </a:ext>
                </a:extLst>
              </p14:cNvPr>
              <p14:cNvContentPartPr/>
              <p14:nvPr/>
            </p14:nvContentPartPr>
            <p14:xfrm>
              <a:off x="-637071" y="1325184"/>
              <a:ext cx="360" cy="360"/>
            </p14:xfrm>
          </p:contentPart>
        </mc:Choice>
        <mc:Fallback xmlns="">
          <p:pic>
            <p:nvPicPr>
              <p:cNvPr id="11" name="Ink 10">
                <a:extLst>
                  <a:ext uri="{FF2B5EF4-FFF2-40B4-BE49-F238E27FC236}">
                    <a16:creationId xmlns:a16="http://schemas.microsoft.com/office/drawing/2014/main" id="{8199EBF1-2405-BB71-49A4-4DC56A994975}"/>
                  </a:ext>
                </a:extLst>
              </p:cNvPr>
              <p:cNvPicPr/>
              <p:nvPr/>
            </p:nvPicPr>
            <p:blipFill>
              <a:blip r:embed="rId4"/>
              <a:stretch>
                <a:fillRect/>
              </a:stretch>
            </p:blipFill>
            <p:spPr>
              <a:xfrm>
                <a:off x="-643191" y="1319064"/>
                <a:ext cx="12600" cy="12600"/>
              </a:xfrm>
              <a:prstGeom prst="rect">
                <a:avLst/>
              </a:prstGeom>
            </p:spPr>
          </p:pic>
        </mc:Fallback>
      </mc:AlternateContent>
    </p:spTree>
    <p:extLst>
      <p:ext uri="{BB962C8B-B14F-4D97-AF65-F5344CB8AC3E}">
        <p14:creationId xmlns:p14="http://schemas.microsoft.com/office/powerpoint/2010/main" val="1966658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51066-D195-B310-8239-BDEBE3617767}"/>
              </a:ext>
            </a:extLst>
          </p:cNvPr>
          <p:cNvSpPr>
            <a:spLocks noGrp="1"/>
          </p:cNvSpPr>
          <p:nvPr>
            <p:ph type="title"/>
          </p:nvPr>
        </p:nvSpPr>
        <p:spPr>
          <a:xfrm>
            <a:off x="170379" y="0"/>
            <a:ext cx="10515600" cy="1325563"/>
          </a:xfrm>
        </p:spPr>
        <p:txBody>
          <a:bodyPr/>
          <a:lstStyle/>
          <a:p>
            <a:r>
              <a:rPr lang="en-US" b="1" dirty="0">
                <a:solidFill>
                  <a:schemeClr val="accent1"/>
                </a:solidFill>
              </a:rPr>
              <a:t>Molecular weight and formation of clouds</a:t>
            </a:r>
            <a:endParaRPr lang="en-IN" b="1" dirty="0">
              <a:solidFill>
                <a:schemeClr val="accent1"/>
              </a:solidFill>
            </a:endParaRPr>
          </a:p>
        </p:txBody>
      </p:sp>
      <p:pic>
        <p:nvPicPr>
          <p:cNvPr id="1026" name="Picture 2">
            <a:extLst>
              <a:ext uri="{FF2B5EF4-FFF2-40B4-BE49-F238E27FC236}">
                <a16:creationId xmlns:a16="http://schemas.microsoft.com/office/drawing/2014/main" id="{3C8EA57A-0EBF-2B85-0FBC-D9D3A50FF3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54803" y="1253330"/>
            <a:ext cx="7453557" cy="52647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DA3238B-447A-17D5-1F69-51B17C8539EF}"/>
              </a:ext>
            </a:extLst>
          </p:cNvPr>
          <p:cNvSpPr txBox="1"/>
          <p:nvPr/>
        </p:nvSpPr>
        <p:spPr>
          <a:xfrm rot="10800000" flipV="1">
            <a:off x="8229600" y="2151695"/>
            <a:ext cx="3852809" cy="646331"/>
          </a:xfrm>
          <a:prstGeom prst="rect">
            <a:avLst/>
          </a:prstGeom>
          <a:noFill/>
        </p:spPr>
        <p:txBody>
          <a:bodyPr wrap="square" rtlCol="0">
            <a:spAutoFit/>
          </a:bodyPr>
          <a:lstStyle/>
          <a:p>
            <a:r>
              <a:rPr lang="en-US" dirty="0"/>
              <a:t>The molecular weight of Al</a:t>
            </a:r>
            <a:r>
              <a:rPr lang="en-US" baseline="-25000" dirty="0"/>
              <a:t>2</a:t>
            </a:r>
            <a:r>
              <a:rPr lang="en-US" dirty="0"/>
              <a:t>O</a:t>
            </a:r>
            <a:r>
              <a:rPr lang="en-US" baseline="-25000" dirty="0"/>
              <a:t>3</a:t>
            </a:r>
            <a:r>
              <a:rPr lang="en-US" dirty="0"/>
              <a:t> = </a:t>
            </a:r>
            <a:r>
              <a:rPr lang="en-US" b="1" dirty="0"/>
              <a:t>101.96 g/mol </a:t>
            </a:r>
            <a:r>
              <a:rPr lang="en-US" dirty="0"/>
              <a:t>and that of SiO</a:t>
            </a:r>
            <a:r>
              <a:rPr lang="en-US" baseline="-25000" dirty="0"/>
              <a:t>2</a:t>
            </a:r>
            <a:r>
              <a:rPr lang="en-US" dirty="0"/>
              <a:t> = </a:t>
            </a:r>
            <a:r>
              <a:rPr lang="en-US" b="1" dirty="0"/>
              <a:t>60.08 g/mol </a:t>
            </a:r>
            <a:endParaRPr lang="en-IN" b="1" dirty="0"/>
          </a:p>
        </p:txBody>
      </p:sp>
      <p:sp>
        <p:nvSpPr>
          <p:cNvPr id="5" name="TextBox 4">
            <a:extLst>
              <a:ext uri="{FF2B5EF4-FFF2-40B4-BE49-F238E27FC236}">
                <a16:creationId xmlns:a16="http://schemas.microsoft.com/office/drawing/2014/main" id="{520F4C51-525E-D7A9-DF85-1D57288FA5C9}"/>
              </a:ext>
            </a:extLst>
          </p:cNvPr>
          <p:cNvSpPr txBox="1"/>
          <p:nvPr/>
        </p:nvSpPr>
        <p:spPr>
          <a:xfrm>
            <a:off x="8414536" y="3719245"/>
            <a:ext cx="3513762" cy="2031325"/>
          </a:xfrm>
          <a:prstGeom prst="rect">
            <a:avLst/>
          </a:prstGeom>
          <a:noFill/>
        </p:spPr>
        <p:txBody>
          <a:bodyPr wrap="square" rtlCol="0">
            <a:spAutoFit/>
          </a:bodyPr>
          <a:lstStyle/>
          <a:p>
            <a:pPr marL="285750" indent="-285750">
              <a:buFont typeface="Wingdings" panose="05000000000000000000" pitchFamily="2" charset="2"/>
              <a:buChar char="Ø"/>
            </a:pPr>
            <a:r>
              <a:rPr lang="en-US" dirty="0"/>
              <a:t>The heavier the species, lower is the cloud base (closer to the surface)</a:t>
            </a:r>
          </a:p>
          <a:p>
            <a:pPr marL="285750" indent="-285750">
              <a:buFont typeface="Wingdings" panose="05000000000000000000" pitchFamily="2" charset="2"/>
              <a:buChar char="Ø"/>
            </a:pPr>
            <a:r>
              <a:rPr lang="en-US" dirty="0"/>
              <a:t>The clouds for the heavier species condenses and forms at higher pressure.</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981887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3281-0D78-ABAC-D66B-3EC036B923E9}"/>
              </a:ext>
            </a:extLst>
          </p:cNvPr>
          <p:cNvSpPr>
            <a:spLocks noGrp="1"/>
          </p:cNvSpPr>
          <p:nvPr>
            <p:ph type="title"/>
          </p:nvPr>
        </p:nvSpPr>
        <p:spPr/>
        <p:txBody>
          <a:bodyPr/>
          <a:lstStyle/>
          <a:p>
            <a:r>
              <a:rPr lang="en-US" b="1" dirty="0">
                <a:solidFill>
                  <a:schemeClr val="accent1"/>
                </a:solidFill>
              </a:rPr>
              <a:t>Variation of Eddy Diffusion Parameter and its role in cloud formation</a:t>
            </a:r>
            <a:endParaRPr lang="en-IN" b="1" dirty="0">
              <a:solidFill>
                <a:schemeClr val="accent1"/>
              </a:solidFill>
            </a:endParaRPr>
          </a:p>
        </p:txBody>
      </p:sp>
      <p:pic>
        <p:nvPicPr>
          <p:cNvPr id="5" name="Content Placeholder 4">
            <a:extLst>
              <a:ext uri="{FF2B5EF4-FFF2-40B4-BE49-F238E27FC236}">
                <a16:creationId xmlns:a16="http://schemas.microsoft.com/office/drawing/2014/main" id="{83AD405C-056F-821F-6EF8-B9D619D83237}"/>
              </a:ext>
            </a:extLst>
          </p:cNvPr>
          <p:cNvPicPr>
            <a:picLocks noGrp="1" noChangeAspect="1"/>
          </p:cNvPicPr>
          <p:nvPr>
            <p:ph idx="1"/>
          </p:nvPr>
        </p:nvPicPr>
        <p:blipFill>
          <a:blip r:embed="rId3"/>
          <a:stretch>
            <a:fillRect/>
          </a:stretch>
        </p:blipFill>
        <p:spPr>
          <a:xfrm>
            <a:off x="959104" y="1981886"/>
            <a:ext cx="4729476" cy="1325563"/>
          </a:xfrm>
          <a:prstGeom prst="rect">
            <a:avLst/>
          </a:prstGeom>
        </p:spPr>
      </p:pic>
      <p:sp>
        <p:nvSpPr>
          <p:cNvPr id="6" name="TextBox 5">
            <a:extLst>
              <a:ext uri="{FF2B5EF4-FFF2-40B4-BE49-F238E27FC236}">
                <a16:creationId xmlns:a16="http://schemas.microsoft.com/office/drawing/2014/main" id="{3095738D-0A1D-8536-4C1A-EFB85DC689B8}"/>
              </a:ext>
            </a:extLst>
          </p:cNvPr>
          <p:cNvSpPr txBox="1"/>
          <p:nvPr/>
        </p:nvSpPr>
        <p:spPr>
          <a:xfrm>
            <a:off x="6400800" y="2106201"/>
            <a:ext cx="5044611" cy="2031325"/>
          </a:xfrm>
          <a:prstGeom prst="rect">
            <a:avLst/>
          </a:prstGeom>
          <a:noFill/>
        </p:spPr>
        <p:txBody>
          <a:bodyPr wrap="square" rtlCol="0">
            <a:spAutoFit/>
          </a:bodyPr>
          <a:lstStyle/>
          <a:p>
            <a:r>
              <a:rPr lang="en-US" dirty="0"/>
              <a:t>This is a parameter which increases the intensity of turbulence in the vertical mixing, it controls the convective velocity w</a:t>
            </a:r>
            <a:r>
              <a:rPr lang="en-US" baseline="-25000" dirty="0"/>
              <a:t>*</a:t>
            </a:r>
            <a:r>
              <a:rPr lang="en-US" dirty="0"/>
              <a:t> which in turn controls the fall radius.</a:t>
            </a:r>
          </a:p>
          <a:p>
            <a:r>
              <a:rPr lang="en-US" dirty="0"/>
              <a:t>Thus, making fall radius highly dependent on eddy diffusion parameter – which then goes on to control droplet radius and number density</a:t>
            </a:r>
            <a:endParaRPr lang="en-IN" dirty="0"/>
          </a:p>
        </p:txBody>
      </p:sp>
      <p:pic>
        <p:nvPicPr>
          <p:cNvPr id="8" name="Picture 7">
            <a:extLst>
              <a:ext uri="{FF2B5EF4-FFF2-40B4-BE49-F238E27FC236}">
                <a16:creationId xmlns:a16="http://schemas.microsoft.com/office/drawing/2014/main" id="{8CD37F75-8E50-65D2-C65A-CA3EB8580BDF}"/>
              </a:ext>
            </a:extLst>
          </p:cNvPr>
          <p:cNvPicPr>
            <a:picLocks noChangeAspect="1"/>
          </p:cNvPicPr>
          <p:nvPr/>
        </p:nvPicPr>
        <p:blipFill>
          <a:blip r:embed="rId4"/>
          <a:stretch>
            <a:fillRect/>
          </a:stretch>
        </p:blipFill>
        <p:spPr>
          <a:xfrm>
            <a:off x="746589" y="3734819"/>
            <a:ext cx="1381318" cy="724001"/>
          </a:xfrm>
          <a:prstGeom prst="rect">
            <a:avLst/>
          </a:prstGeom>
        </p:spPr>
      </p:pic>
      <p:cxnSp>
        <p:nvCxnSpPr>
          <p:cNvPr id="10" name="Straight Arrow Connector 9">
            <a:extLst>
              <a:ext uri="{FF2B5EF4-FFF2-40B4-BE49-F238E27FC236}">
                <a16:creationId xmlns:a16="http://schemas.microsoft.com/office/drawing/2014/main" id="{53EEBEAF-C01F-6AA8-9B2A-2BD505B05C5E}"/>
              </a:ext>
            </a:extLst>
          </p:cNvPr>
          <p:cNvCxnSpPr>
            <a:stCxn id="8" idx="3"/>
          </p:cNvCxnSpPr>
          <p:nvPr/>
        </p:nvCxnSpPr>
        <p:spPr>
          <a:xfrm flipV="1">
            <a:off x="2127907" y="4096819"/>
            <a:ext cx="99543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E9A14F8-4B95-980E-ADBD-149DC61E9C98}"/>
              </a:ext>
            </a:extLst>
          </p:cNvPr>
          <p:cNvPicPr>
            <a:picLocks noChangeAspect="1"/>
          </p:cNvPicPr>
          <p:nvPr/>
        </p:nvPicPr>
        <p:blipFill>
          <a:blip r:embed="rId5"/>
          <a:stretch>
            <a:fillRect/>
          </a:stretch>
        </p:blipFill>
        <p:spPr>
          <a:xfrm>
            <a:off x="3123344" y="3860527"/>
            <a:ext cx="2000529" cy="362001"/>
          </a:xfrm>
          <a:prstGeom prst="rect">
            <a:avLst/>
          </a:prstGeom>
        </p:spPr>
      </p:pic>
      <p:pic>
        <p:nvPicPr>
          <p:cNvPr id="13" name="Picture 12">
            <a:extLst>
              <a:ext uri="{FF2B5EF4-FFF2-40B4-BE49-F238E27FC236}">
                <a16:creationId xmlns:a16="http://schemas.microsoft.com/office/drawing/2014/main" id="{F21B3D1A-CD78-533D-CFC6-4BC52891ACAC}"/>
              </a:ext>
            </a:extLst>
          </p:cNvPr>
          <p:cNvPicPr>
            <a:picLocks noChangeAspect="1"/>
          </p:cNvPicPr>
          <p:nvPr/>
        </p:nvPicPr>
        <p:blipFill>
          <a:blip r:embed="rId6"/>
          <a:stretch>
            <a:fillRect/>
          </a:stretch>
        </p:blipFill>
        <p:spPr>
          <a:xfrm>
            <a:off x="5688580" y="4253912"/>
            <a:ext cx="1379549" cy="512105"/>
          </a:xfrm>
          <a:prstGeom prst="rect">
            <a:avLst/>
          </a:prstGeom>
        </p:spPr>
      </p:pic>
      <p:cxnSp>
        <p:nvCxnSpPr>
          <p:cNvPr id="15" name="Straight Arrow Connector 14">
            <a:extLst>
              <a:ext uri="{FF2B5EF4-FFF2-40B4-BE49-F238E27FC236}">
                <a16:creationId xmlns:a16="http://schemas.microsoft.com/office/drawing/2014/main" id="{4CD9415E-3B80-79DE-9BF0-61AC3A2CEB7E}"/>
              </a:ext>
            </a:extLst>
          </p:cNvPr>
          <p:cNvCxnSpPr/>
          <p:nvPr/>
        </p:nvCxnSpPr>
        <p:spPr>
          <a:xfrm>
            <a:off x="3729519" y="4222528"/>
            <a:ext cx="1613043" cy="2362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6DC4980-67F0-E41D-DAF8-327A6EAFAA52}"/>
              </a:ext>
            </a:extLst>
          </p:cNvPr>
          <p:cNvSpPr txBox="1"/>
          <p:nvPr/>
        </p:nvSpPr>
        <p:spPr>
          <a:xfrm>
            <a:off x="3226086" y="5373898"/>
            <a:ext cx="6051478" cy="1200329"/>
          </a:xfrm>
          <a:prstGeom prst="rect">
            <a:avLst/>
          </a:prstGeom>
          <a:noFill/>
        </p:spPr>
        <p:txBody>
          <a:bodyPr wrap="square" rtlCol="0">
            <a:spAutoFit/>
          </a:bodyPr>
          <a:lstStyle/>
          <a:p>
            <a:r>
              <a:rPr lang="en-US" dirty="0"/>
              <a:t>The change of constant eddy diffusion parameter does not cause a change in the condensate mass mixing ratio or formation of clouds, for a fixed metallicity and sedimentation efficiency</a:t>
            </a:r>
            <a:endParaRPr lang="en-IN" dirty="0"/>
          </a:p>
        </p:txBody>
      </p:sp>
      <p:sp>
        <p:nvSpPr>
          <p:cNvPr id="17" name="TextBox 16">
            <a:extLst>
              <a:ext uri="{FF2B5EF4-FFF2-40B4-BE49-F238E27FC236}">
                <a16:creationId xmlns:a16="http://schemas.microsoft.com/office/drawing/2014/main" id="{B770349B-3636-8622-12AA-214C0CD8A729}"/>
              </a:ext>
            </a:extLst>
          </p:cNvPr>
          <p:cNvSpPr txBox="1"/>
          <p:nvPr/>
        </p:nvSpPr>
        <p:spPr>
          <a:xfrm>
            <a:off x="7890552" y="4573158"/>
            <a:ext cx="3554859" cy="646331"/>
          </a:xfrm>
          <a:prstGeom prst="rect">
            <a:avLst/>
          </a:prstGeom>
          <a:noFill/>
        </p:spPr>
        <p:txBody>
          <a:bodyPr wrap="square" rtlCol="0">
            <a:spAutoFit/>
          </a:bodyPr>
          <a:lstStyle/>
          <a:p>
            <a:r>
              <a:rPr lang="en-US" dirty="0"/>
              <a:t>Values of </a:t>
            </a:r>
            <a:r>
              <a:rPr lang="en-US" dirty="0" err="1"/>
              <a:t>K</a:t>
            </a:r>
            <a:r>
              <a:rPr lang="en-US" baseline="-25000" dirty="0" err="1"/>
              <a:t>zz</a:t>
            </a:r>
            <a:r>
              <a:rPr lang="en-US" dirty="0"/>
              <a:t> used are = 10</a:t>
            </a:r>
            <a:r>
              <a:rPr lang="en-US" baseline="30000" dirty="0"/>
              <a:t>8</a:t>
            </a:r>
            <a:r>
              <a:rPr lang="en-US" dirty="0"/>
              <a:t>,10</a:t>
            </a:r>
            <a:r>
              <a:rPr lang="en-US" baseline="30000" dirty="0"/>
              <a:t>9</a:t>
            </a:r>
            <a:r>
              <a:rPr lang="en-US" dirty="0"/>
              <a:t>,10</a:t>
            </a:r>
            <a:r>
              <a:rPr lang="en-US" baseline="30000" dirty="0"/>
              <a:t>10</a:t>
            </a:r>
            <a:r>
              <a:rPr lang="en-US" dirty="0"/>
              <a:t>,10</a:t>
            </a:r>
            <a:r>
              <a:rPr lang="en-US" baseline="30000" dirty="0"/>
              <a:t>11</a:t>
            </a:r>
            <a:r>
              <a:rPr lang="en-US" dirty="0"/>
              <a:t>,10</a:t>
            </a:r>
            <a:r>
              <a:rPr lang="en-US" baseline="30000" dirty="0"/>
              <a:t>12</a:t>
            </a:r>
            <a:endParaRPr lang="en-IN" baseline="30000" dirty="0"/>
          </a:p>
        </p:txBody>
      </p:sp>
    </p:spTree>
    <p:extLst>
      <p:ext uri="{BB962C8B-B14F-4D97-AF65-F5344CB8AC3E}">
        <p14:creationId xmlns:p14="http://schemas.microsoft.com/office/powerpoint/2010/main" val="1637312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DA16-4EA8-EC45-4430-3BB459C12EBE}"/>
              </a:ext>
            </a:extLst>
          </p:cNvPr>
          <p:cNvSpPr>
            <a:spLocks noGrp="1"/>
          </p:cNvSpPr>
          <p:nvPr>
            <p:ph type="title"/>
          </p:nvPr>
        </p:nvSpPr>
        <p:spPr>
          <a:xfrm>
            <a:off x="77913" y="180190"/>
            <a:ext cx="10515600" cy="1325563"/>
          </a:xfrm>
        </p:spPr>
        <p:txBody>
          <a:bodyPr/>
          <a:lstStyle/>
          <a:p>
            <a:r>
              <a:rPr lang="en-US" b="1" dirty="0">
                <a:solidFill>
                  <a:schemeClr val="accent1"/>
                </a:solidFill>
              </a:rPr>
              <a:t>Eddy Diffusion parameter and condensate mass mixing ratio</a:t>
            </a:r>
            <a:endParaRPr lang="en-IN" dirty="0"/>
          </a:p>
        </p:txBody>
      </p:sp>
      <p:pic>
        <p:nvPicPr>
          <p:cNvPr id="2050" name="Picture 2">
            <a:extLst>
              <a:ext uri="{FF2B5EF4-FFF2-40B4-BE49-F238E27FC236}">
                <a16:creationId xmlns:a16="http://schemas.microsoft.com/office/drawing/2014/main" id="{BD74332B-C6BE-2BCA-C33B-59344C2B6E19}"/>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 t="51176" r="-464"/>
          <a:stretch>
            <a:fillRect/>
          </a:stretch>
        </p:blipFill>
        <p:spPr bwMode="auto">
          <a:xfrm>
            <a:off x="77913" y="1767154"/>
            <a:ext cx="11994222" cy="35805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8EF3A00-C57B-B38F-2208-CB03E41A600F}"/>
              </a:ext>
            </a:extLst>
          </p:cNvPr>
          <p:cNvSpPr txBox="1"/>
          <p:nvPr/>
        </p:nvSpPr>
        <p:spPr>
          <a:xfrm>
            <a:off x="3585681" y="6133672"/>
            <a:ext cx="4315146" cy="369332"/>
          </a:xfrm>
          <a:prstGeom prst="rect">
            <a:avLst/>
          </a:prstGeom>
          <a:noFill/>
        </p:spPr>
        <p:txBody>
          <a:bodyPr wrap="square" rtlCol="0">
            <a:spAutoFit/>
          </a:bodyPr>
          <a:lstStyle/>
          <a:p>
            <a:r>
              <a:rPr lang="en-US" dirty="0" err="1"/>
              <a:t>F</a:t>
            </a:r>
            <a:r>
              <a:rPr lang="en-US" baseline="-25000" dirty="0" err="1"/>
              <a:t>sed</a:t>
            </a:r>
            <a:r>
              <a:rPr lang="en-US" dirty="0"/>
              <a:t> = 0.1 , MH = 1, Varying </a:t>
            </a:r>
            <a:r>
              <a:rPr lang="en-US" dirty="0" err="1"/>
              <a:t>K</a:t>
            </a:r>
            <a:r>
              <a:rPr lang="en-US" baseline="-25000" dirty="0" err="1"/>
              <a:t>zz</a:t>
            </a:r>
            <a:endParaRPr lang="en-IN" dirty="0"/>
          </a:p>
        </p:txBody>
      </p:sp>
    </p:spTree>
    <p:extLst>
      <p:ext uri="{BB962C8B-B14F-4D97-AF65-F5344CB8AC3E}">
        <p14:creationId xmlns:p14="http://schemas.microsoft.com/office/powerpoint/2010/main" val="253935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52218-7E97-BB4C-666E-3FB608C19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D74-766A-7A2F-EC4D-F170AAB49FC3}"/>
              </a:ext>
            </a:extLst>
          </p:cNvPr>
          <p:cNvSpPr>
            <a:spLocks noGrp="1"/>
          </p:cNvSpPr>
          <p:nvPr>
            <p:ph type="title"/>
          </p:nvPr>
        </p:nvSpPr>
        <p:spPr>
          <a:xfrm>
            <a:off x="0" y="0"/>
            <a:ext cx="10515600" cy="939693"/>
          </a:xfrm>
        </p:spPr>
        <p:txBody>
          <a:bodyPr/>
          <a:lstStyle/>
          <a:p>
            <a:r>
              <a:rPr lang="en-US" b="1" dirty="0">
                <a:solidFill>
                  <a:schemeClr val="accent1"/>
                </a:solidFill>
              </a:rPr>
              <a:t>Eddy Diffusion parameter and droplet radius</a:t>
            </a:r>
            <a:endParaRPr lang="en-IN" dirty="0"/>
          </a:p>
        </p:txBody>
      </p:sp>
      <p:sp>
        <p:nvSpPr>
          <p:cNvPr id="3" name="Content Placeholder 2">
            <a:extLst>
              <a:ext uri="{FF2B5EF4-FFF2-40B4-BE49-F238E27FC236}">
                <a16:creationId xmlns:a16="http://schemas.microsoft.com/office/drawing/2014/main" id="{65B8FEAD-9DB5-0A3A-A871-F51A8E903F27}"/>
              </a:ext>
            </a:extLst>
          </p:cNvPr>
          <p:cNvSpPr>
            <a:spLocks noGrp="1"/>
          </p:cNvSpPr>
          <p:nvPr>
            <p:ph idx="1"/>
          </p:nvPr>
        </p:nvSpPr>
        <p:spPr>
          <a:xfrm>
            <a:off x="9873464" y="1510301"/>
            <a:ext cx="1962365" cy="1541124"/>
          </a:xfrm>
        </p:spPr>
        <p:txBody>
          <a:bodyPr/>
          <a:lstStyle/>
          <a:p>
            <a:pPr marL="0" indent="0">
              <a:buNone/>
            </a:pPr>
            <a:r>
              <a:rPr lang="en-US" sz="1800" dirty="0"/>
              <a:t>Higher the value of eddy diffusion parameter, higher is the droplet radius.</a:t>
            </a:r>
          </a:p>
          <a:p>
            <a:pPr marL="0" indent="0">
              <a:buNone/>
            </a:pPr>
            <a:endParaRPr lang="en-IN" sz="1800" dirty="0"/>
          </a:p>
        </p:txBody>
      </p:sp>
      <p:pic>
        <p:nvPicPr>
          <p:cNvPr id="5" name="Picture 4">
            <a:extLst>
              <a:ext uri="{FF2B5EF4-FFF2-40B4-BE49-F238E27FC236}">
                <a16:creationId xmlns:a16="http://schemas.microsoft.com/office/drawing/2014/main" id="{AAFB9AC5-CBFE-32F5-2DBC-F5AFDB10177F}"/>
              </a:ext>
            </a:extLst>
          </p:cNvPr>
          <p:cNvPicPr>
            <a:picLocks noChangeAspect="1"/>
          </p:cNvPicPr>
          <p:nvPr/>
        </p:nvPicPr>
        <p:blipFill>
          <a:blip r:embed="rId3"/>
          <a:stretch>
            <a:fillRect/>
          </a:stretch>
        </p:blipFill>
        <p:spPr>
          <a:xfrm>
            <a:off x="9625124" y="2800663"/>
            <a:ext cx="2796332" cy="579420"/>
          </a:xfrm>
          <a:prstGeom prst="rect">
            <a:avLst/>
          </a:prstGeom>
        </p:spPr>
      </p:pic>
      <p:pic>
        <p:nvPicPr>
          <p:cNvPr id="6" name="Picture 5">
            <a:extLst>
              <a:ext uri="{FF2B5EF4-FFF2-40B4-BE49-F238E27FC236}">
                <a16:creationId xmlns:a16="http://schemas.microsoft.com/office/drawing/2014/main" id="{A0611BFB-BE51-4511-F50F-E86659E73578}"/>
              </a:ext>
            </a:extLst>
          </p:cNvPr>
          <p:cNvPicPr>
            <a:picLocks noChangeAspect="1"/>
          </p:cNvPicPr>
          <p:nvPr/>
        </p:nvPicPr>
        <p:blipFill>
          <a:blip r:embed="rId4"/>
          <a:stretch>
            <a:fillRect/>
          </a:stretch>
        </p:blipFill>
        <p:spPr>
          <a:xfrm>
            <a:off x="9625124" y="3996646"/>
            <a:ext cx="2712481" cy="539797"/>
          </a:xfrm>
          <a:prstGeom prst="rect">
            <a:avLst/>
          </a:prstGeom>
        </p:spPr>
      </p:pic>
      <p:pic>
        <p:nvPicPr>
          <p:cNvPr id="2050" name="Picture 2">
            <a:extLst>
              <a:ext uri="{FF2B5EF4-FFF2-40B4-BE49-F238E27FC236}">
                <a16:creationId xmlns:a16="http://schemas.microsoft.com/office/drawing/2014/main" id="{E4CF3197-DC0E-BDC4-FEF5-F2C141E4AF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7049" r="1082"/>
          <a:stretch>
            <a:fillRect/>
          </a:stretch>
        </p:blipFill>
        <p:spPr bwMode="auto">
          <a:xfrm>
            <a:off x="356171" y="1222872"/>
            <a:ext cx="8479357" cy="5619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2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7D3C-9B79-A063-F88F-1C0A6257096C}"/>
              </a:ext>
            </a:extLst>
          </p:cNvPr>
          <p:cNvSpPr>
            <a:spLocks noGrp="1"/>
          </p:cNvSpPr>
          <p:nvPr>
            <p:ph type="title"/>
          </p:nvPr>
        </p:nvSpPr>
        <p:spPr>
          <a:xfrm>
            <a:off x="201203" y="0"/>
            <a:ext cx="10515600" cy="1325563"/>
          </a:xfrm>
        </p:spPr>
        <p:txBody>
          <a:bodyPr/>
          <a:lstStyle/>
          <a:p>
            <a:r>
              <a:rPr lang="en-US" b="1" dirty="0">
                <a:solidFill>
                  <a:schemeClr val="accent1"/>
                </a:solidFill>
              </a:rPr>
              <a:t>Eddy Diffusion parameter and Column Density</a:t>
            </a:r>
            <a:endParaRPr lang="en-IN" dirty="0"/>
          </a:p>
        </p:txBody>
      </p:sp>
      <p:sp>
        <p:nvSpPr>
          <p:cNvPr id="5" name="TextBox 4">
            <a:extLst>
              <a:ext uri="{FF2B5EF4-FFF2-40B4-BE49-F238E27FC236}">
                <a16:creationId xmlns:a16="http://schemas.microsoft.com/office/drawing/2014/main" id="{7323A570-F60A-E52C-2215-82C9C9972E87}"/>
              </a:ext>
            </a:extLst>
          </p:cNvPr>
          <p:cNvSpPr txBox="1"/>
          <p:nvPr/>
        </p:nvSpPr>
        <p:spPr>
          <a:xfrm>
            <a:off x="9672040" y="1387405"/>
            <a:ext cx="2539317" cy="1200329"/>
          </a:xfrm>
          <a:prstGeom prst="rect">
            <a:avLst/>
          </a:prstGeom>
          <a:noFill/>
        </p:spPr>
        <p:txBody>
          <a:bodyPr wrap="square">
            <a:spAutoFit/>
          </a:bodyPr>
          <a:lstStyle/>
          <a:p>
            <a:pPr marL="0" indent="0">
              <a:buNone/>
            </a:pPr>
            <a:r>
              <a:rPr lang="en-US" sz="1800" dirty="0"/>
              <a:t>Higher the value of eddy diffusion parameter, </a:t>
            </a:r>
            <a:r>
              <a:rPr lang="en-US" dirty="0"/>
              <a:t>lower is the column density.</a:t>
            </a:r>
            <a:endParaRPr lang="en-US" sz="1800" dirty="0"/>
          </a:p>
        </p:txBody>
      </p:sp>
      <p:pic>
        <p:nvPicPr>
          <p:cNvPr id="6" name="Picture 5">
            <a:extLst>
              <a:ext uri="{FF2B5EF4-FFF2-40B4-BE49-F238E27FC236}">
                <a16:creationId xmlns:a16="http://schemas.microsoft.com/office/drawing/2014/main" id="{5A32070A-C29A-3F09-F15D-77F2E9BC45CD}"/>
              </a:ext>
            </a:extLst>
          </p:cNvPr>
          <p:cNvPicPr>
            <a:picLocks noChangeAspect="1"/>
          </p:cNvPicPr>
          <p:nvPr/>
        </p:nvPicPr>
        <p:blipFill>
          <a:blip r:embed="rId3"/>
          <a:stretch>
            <a:fillRect/>
          </a:stretch>
        </p:blipFill>
        <p:spPr>
          <a:xfrm>
            <a:off x="8185628" y="2755184"/>
            <a:ext cx="4025730" cy="933238"/>
          </a:xfrm>
          <a:prstGeom prst="rect">
            <a:avLst/>
          </a:prstGeom>
        </p:spPr>
      </p:pic>
      <p:sp>
        <p:nvSpPr>
          <p:cNvPr id="3" name="Content Placeholder 2">
            <a:extLst>
              <a:ext uri="{FF2B5EF4-FFF2-40B4-BE49-F238E27FC236}">
                <a16:creationId xmlns:a16="http://schemas.microsoft.com/office/drawing/2014/main" id="{754F528B-E070-4762-AA3F-BDBC0272FCFA}"/>
              </a:ext>
            </a:extLst>
          </p:cNvPr>
          <p:cNvSpPr>
            <a:spLocks noGrp="1"/>
          </p:cNvSpPr>
          <p:nvPr>
            <p:ph idx="1"/>
          </p:nvPr>
        </p:nvSpPr>
        <p:spPr>
          <a:xfrm flipH="1">
            <a:off x="-667820" y="5147353"/>
            <a:ext cx="1506020" cy="1029610"/>
          </a:xfrm>
        </p:spPr>
        <p:txBody>
          <a:bodyPr/>
          <a:lstStyle/>
          <a:p>
            <a:endParaRPr lang="en-IN" dirty="0"/>
          </a:p>
        </p:txBody>
      </p:sp>
      <p:pic>
        <p:nvPicPr>
          <p:cNvPr id="3074" name="Picture 2">
            <a:extLst>
              <a:ext uri="{FF2B5EF4-FFF2-40B4-BE49-F238E27FC236}">
                <a16:creationId xmlns:a16="http://schemas.microsoft.com/office/drawing/2014/main" id="{E70A16B2-3AD0-78E0-309F-7FCE3786BC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289" r="1031"/>
          <a:stretch>
            <a:fillRect/>
          </a:stretch>
        </p:blipFill>
        <p:spPr bwMode="auto">
          <a:xfrm>
            <a:off x="92467" y="1325563"/>
            <a:ext cx="8236285" cy="5585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8135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B1E77-1DC0-A564-53F9-AB97323B866A}"/>
              </a:ext>
            </a:extLst>
          </p:cNvPr>
          <p:cNvSpPr>
            <a:spLocks noGrp="1"/>
          </p:cNvSpPr>
          <p:nvPr>
            <p:ph type="title"/>
          </p:nvPr>
        </p:nvSpPr>
        <p:spPr/>
        <p:txBody>
          <a:bodyPr/>
          <a:lstStyle/>
          <a:p>
            <a:r>
              <a:rPr lang="en-US" b="1" dirty="0">
                <a:solidFill>
                  <a:schemeClr val="accent1"/>
                </a:solidFill>
              </a:rPr>
              <a:t>Key findings by varying eddy diffusion parameter</a:t>
            </a:r>
            <a:endParaRPr lang="en-IN" b="1" dirty="0">
              <a:solidFill>
                <a:schemeClr val="accent1"/>
              </a:solidFill>
            </a:endParaRPr>
          </a:p>
        </p:txBody>
      </p:sp>
      <p:sp>
        <p:nvSpPr>
          <p:cNvPr id="3" name="Content Placeholder 2">
            <a:extLst>
              <a:ext uri="{FF2B5EF4-FFF2-40B4-BE49-F238E27FC236}">
                <a16:creationId xmlns:a16="http://schemas.microsoft.com/office/drawing/2014/main" id="{9713E5BD-DE62-1FA3-F6E2-8EBE4186926A}"/>
              </a:ext>
            </a:extLst>
          </p:cNvPr>
          <p:cNvSpPr>
            <a:spLocks noGrp="1"/>
          </p:cNvSpPr>
          <p:nvPr>
            <p:ph idx="1"/>
          </p:nvPr>
        </p:nvSpPr>
        <p:spPr/>
        <p:txBody>
          <a:bodyPr/>
          <a:lstStyle/>
          <a:p>
            <a:r>
              <a:rPr lang="en-US" dirty="0"/>
              <a:t>The change in the value of eddy diffusion parameter is not playing a significant role in changing the formation of clouds, it leaves the condensate mass mixing ratio the same.</a:t>
            </a:r>
          </a:p>
          <a:p>
            <a:r>
              <a:rPr lang="en-US" dirty="0"/>
              <a:t>Eddy diffusion parameter mainly controls the fall radius of the particle</a:t>
            </a:r>
          </a:p>
          <a:p>
            <a:r>
              <a:rPr lang="en-US" dirty="0"/>
              <a:t>Higher values of eddy diffusion parameter results in   higher values of droplet radius</a:t>
            </a:r>
          </a:p>
          <a:p>
            <a:r>
              <a:rPr lang="en-US" dirty="0"/>
              <a:t>Higher values of eddy diffusion parameter results in lower values of column density – telling us that higher the eddy diffusion  parameter lesser is the concentration of particles per layer in the atmosphere indicating that the turbulent mixing is happening well.  </a:t>
            </a:r>
            <a:endParaRPr lang="en-IN" dirty="0"/>
          </a:p>
        </p:txBody>
      </p:sp>
    </p:spTree>
    <p:extLst>
      <p:ext uri="{BB962C8B-B14F-4D97-AF65-F5344CB8AC3E}">
        <p14:creationId xmlns:p14="http://schemas.microsoft.com/office/powerpoint/2010/main" val="645784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B0A8C-A8E8-C262-C244-0EC67F668E5B}"/>
              </a:ext>
            </a:extLst>
          </p:cNvPr>
          <p:cNvSpPr>
            <a:spLocks noGrp="1"/>
          </p:cNvSpPr>
          <p:nvPr>
            <p:ph type="title"/>
          </p:nvPr>
        </p:nvSpPr>
        <p:spPr/>
        <p:txBody>
          <a:bodyPr/>
          <a:lstStyle/>
          <a:p>
            <a:r>
              <a:rPr lang="en-US" b="1" dirty="0">
                <a:solidFill>
                  <a:schemeClr val="accent1"/>
                </a:solidFill>
              </a:rPr>
              <a:t>Summary of results :</a:t>
            </a:r>
            <a:endParaRPr lang="en-IN" dirty="0"/>
          </a:p>
        </p:txBody>
      </p:sp>
      <p:sp>
        <p:nvSpPr>
          <p:cNvPr id="3" name="Content Placeholder 2">
            <a:extLst>
              <a:ext uri="{FF2B5EF4-FFF2-40B4-BE49-F238E27FC236}">
                <a16:creationId xmlns:a16="http://schemas.microsoft.com/office/drawing/2014/main" id="{8AF3FAF1-C9D7-4ABE-E468-AE76DB82D4E9}"/>
              </a:ext>
            </a:extLst>
          </p:cNvPr>
          <p:cNvSpPr>
            <a:spLocks noGrp="1"/>
          </p:cNvSpPr>
          <p:nvPr>
            <p:ph idx="1"/>
          </p:nvPr>
        </p:nvSpPr>
        <p:spPr/>
        <p:txBody>
          <a:bodyPr/>
          <a:lstStyle/>
          <a:p>
            <a:r>
              <a:rPr lang="en-US" dirty="0"/>
              <a:t>The interplay of eddy diffusion parameter, sedimentation parameter and metallicity cause significant change in structure and formation of clouds</a:t>
            </a:r>
          </a:p>
          <a:p>
            <a:r>
              <a:rPr lang="en-US" dirty="0"/>
              <a:t>The whole 1D model is based on the upward turbulent force and the downward motion of the particles due to sedimentation force</a:t>
            </a:r>
          </a:p>
          <a:p>
            <a:r>
              <a:rPr lang="en-US" dirty="0"/>
              <a:t>While plots of pressure versus condensation mass mixing ratio give the location and extend of the cloud formation, the details of cloud structure and gradient mostly comes from </a:t>
            </a:r>
            <a:r>
              <a:rPr lang="en-US" dirty="0" err="1"/>
              <a:t>analysing</a:t>
            </a:r>
            <a:r>
              <a:rPr lang="en-US" dirty="0"/>
              <a:t> its column density and effective droplet radius.</a:t>
            </a:r>
            <a:endParaRPr lang="en-IN" dirty="0"/>
          </a:p>
        </p:txBody>
      </p:sp>
    </p:spTree>
    <p:extLst>
      <p:ext uri="{BB962C8B-B14F-4D97-AF65-F5344CB8AC3E}">
        <p14:creationId xmlns:p14="http://schemas.microsoft.com/office/powerpoint/2010/main" val="3203013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C8735-1A8B-69EF-53A9-5E0E473BED9E}"/>
              </a:ext>
            </a:extLst>
          </p:cNvPr>
          <p:cNvSpPr>
            <a:spLocks noGrp="1"/>
          </p:cNvSpPr>
          <p:nvPr>
            <p:ph type="title"/>
          </p:nvPr>
        </p:nvSpPr>
        <p:spPr/>
        <p:txBody>
          <a:bodyPr/>
          <a:lstStyle/>
          <a:p>
            <a:r>
              <a:rPr lang="en-US" b="1" dirty="0">
                <a:solidFill>
                  <a:schemeClr val="accent1"/>
                </a:solidFill>
              </a:rPr>
              <a:t>Scope of future work</a:t>
            </a:r>
            <a:endParaRPr lang="en-IN" b="1" dirty="0">
              <a:solidFill>
                <a:schemeClr val="accent1"/>
              </a:solidFill>
            </a:endParaRPr>
          </a:p>
        </p:txBody>
      </p:sp>
      <p:sp>
        <p:nvSpPr>
          <p:cNvPr id="3" name="Content Placeholder 2">
            <a:extLst>
              <a:ext uri="{FF2B5EF4-FFF2-40B4-BE49-F238E27FC236}">
                <a16:creationId xmlns:a16="http://schemas.microsoft.com/office/drawing/2014/main" id="{0495F0BB-953E-FA1F-F645-F34C4E45CA06}"/>
              </a:ext>
            </a:extLst>
          </p:cNvPr>
          <p:cNvSpPr>
            <a:spLocks noGrp="1"/>
          </p:cNvSpPr>
          <p:nvPr>
            <p:ph idx="1"/>
          </p:nvPr>
        </p:nvSpPr>
        <p:spPr/>
        <p:txBody>
          <a:bodyPr/>
          <a:lstStyle/>
          <a:p>
            <a:r>
              <a:rPr lang="en-US" dirty="0"/>
              <a:t>I plan on integrating the consideration of treating the particles as aggregates and not just sphere – currently all fall radius calculations are assumed that the particles are spherical in shape.</a:t>
            </a:r>
          </a:p>
          <a:p>
            <a:r>
              <a:rPr lang="en-US" dirty="0"/>
              <a:t>Since my model only calculates the structural and formation of clouds, it will later be used to club into our group’s model – SANSAR so that it can be used in the retrieval models</a:t>
            </a:r>
            <a:endParaRPr lang="en-IN" dirty="0"/>
          </a:p>
        </p:txBody>
      </p:sp>
    </p:spTree>
    <p:extLst>
      <p:ext uri="{BB962C8B-B14F-4D97-AF65-F5344CB8AC3E}">
        <p14:creationId xmlns:p14="http://schemas.microsoft.com/office/powerpoint/2010/main" val="3852313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99CE2-6EC0-71E0-8D92-335E69CECE45}"/>
              </a:ext>
            </a:extLst>
          </p:cNvPr>
          <p:cNvSpPr>
            <a:spLocks noGrp="1"/>
          </p:cNvSpPr>
          <p:nvPr>
            <p:ph type="title"/>
          </p:nvPr>
        </p:nvSpPr>
        <p:spPr>
          <a:xfrm>
            <a:off x="838200" y="1731589"/>
            <a:ext cx="10515600" cy="4689760"/>
          </a:xfrm>
        </p:spPr>
        <p:txBody>
          <a:bodyPr/>
          <a:lstStyle/>
          <a:p>
            <a:pPr algn="ctr"/>
            <a:r>
              <a:rPr lang="en-US" b="1" dirty="0">
                <a:solidFill>
                  <a:schemeClr val="accent1"/>
                </a:solidFill>
                <a:latin typeface="Arial" panose="020B0604020202020204" pitchFamily="34" charset="0"/>
                <a:cs typeface="Arial" panose="020B0604020202020204" pitchFamily="34" charset="0"/>
              </a:rPr>
              <a:t>Thank You</a:t>
            </a:r>
            <a:br>
              <a:rPr lang="en-US" b="1" dirty="0">
                <a:solidFill>
                  <a:schemeClr val="accent1"/>
                </a:solidFill>
                <a:latin typeface="Arial" panose="020B0604020202020204" pitchFamily="34" charset="0"/>
                <a:cs typeface="Arial" panose="020B0604020202020204" pitchFamily="34" charset="0"/>
              </a:rPr>
            </a:br>
            <a:br>
              <a:rPr lang="en-US" b="1" dirty="0">
                <a:solidFill>
                  <a:schemeClr val="accent1"/>
                </a:solidFill>
                <a:latin typeface="Arial" panose="020B0604020202020204" pitchFamily="34" charset="0"/>
                <a:cs typeface="Arial" panose="020B0604020202020204" pitchFamily="34" charset="0"/>
              </a:rPr>
            </a:br>
            <a:endParaRPr lang="en-IN" b="1" dirty="0">
              <a:solidFill>
                <a:schemeClr val="accent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C17BC2A-F7C9-C8F9-E9A6-A981E91946B2}"/>
              </a:ext>
            </a:extLst>
          </p:cNvPr>
          <p:cNvSpPr>
            <a:spLocks noGrp="1"/>
          </p:cNvSpPr>
          <p:nvPr>
            <p:ph idx="1"/>
          </p:nvPr>
        </p:nvSpPr>
        <p:spPr>
          <a:xfrm>
            <a:off x="838200" y="5661061"/>
            <a:ext cx="8963346" cy="515902"/>
          </a:xfrm>
        </p:spPr>
        <p:txBody>
          <a:bodyPr/>
          <a:lstStyle/>
          <a:p>
            <a:endParaRPr lang="en-IN" dirty="0"/>
          </a:p>
        </p:txBody>
      </p:sp>
    </p:spTree>
    <p:extLst>
      <p:ext uri="{BB962C8B-B14F-4D97-AF65-F5344CB8AC3E}">
        <p14:creationId xmlns:p14="http://schemas.microsoft.com/office/powerpoint/2010/main" val="599061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CAD0D-A28A-738C-F8B6-D96E7296C1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A94375-333E-91AC-A2A6-146E29D87FBC}"/>
              </a:ext>
            </a:extLst>
          </p:cNvPr>
          <p:cNvSpPr>
            <a:spLocks noGrp="1"/>
          </p:cNvSpPr>
          <p:nvPr>
            <p:ph idx="1"/>
          </p:nvPr>
        </p:nvSpPr>
        <p:spPr/>
        <p:txBody>
          <a:bodyPr/>
          <a:lstStyle/>
          <a:p>
            <a:endParaRPr lang="en-IN" dirty="0"/>
          </a:p>
        </p:txBody>
      </p:sp>
      <p:sp>
        <p:nvSpPr>
          <p:cNvPr id="5" name="TextBox 4">
            <a:extLst>
              <a:ext uri="{FF2B5EF4-FFF2-40B4-BE49-F238E27FC236}">
                <a16:creationId xmlns:a16="http://schemas.microsoft.com/office/drawing/2014/main" id="{65EC138F-9DDD-BF6C-20D7-F34AC76381BE}"/>
              </a:ext>
            </a:extLst>
          </p:cNvPr>
          <p:cNvSpPr txBox="1"/>
          <p:nvPr/>
        </p:nvSpPr>
        <p:spPr>
          <a:xfrm>
            <a:off x="3047144" y="2905288"/>
            <a:ext cx="6097712" cy="769441"/>
          </a:xfrm>
          <a:prstGeom prst="rect">
            <a:avLst/>
          </a:prstGeom>
          <a:noFill/>
        </p:spPr>
        <p:txBody>
          <a:bodyPr wrap="square">
            <a:spAutoFit/>
          </a:bodyPr>
          <a:lstStyle/>
          <a:p>
            <a:pPr algn="ctr"/>
            <a:r>
              <a:rPr lang="en-US" sz="4400" b="1" dirty="0">
                <a:solidFill>
                  <a:schemeClr val="accent1"/>
                </a:solidFill>
                <a:latin typeface="Arial" panose="020B0604020202020204" pitchFamily="34" charset="0"/>
                <a:ea typeface="+mj-ea"/>
                <a:cs typeface="Arial" panose="020B0604020202020204" pitchFamily="34" charset="0"/>
              </a:rPr>
              <a:t>Questions?</a:t>
            </a:r>
            <a:endParaRPr lang="en-IN" sz="44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21330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20FDC-AE9A-50E2-4378-B30A7DF36373}"/>
              </a:ext>
            </a:extLst>
          </p:cNvPr>
          <p:cNvSpPr>
            <a:spLocks noGrp="1"/>
          </p:cNvSpPr>
          <p:nvPr>
            <p:ph type="title"/>
          </p:nvPr>
        </p:nvSpPr>
        <p:spPr>
          <a:xfrm>
            <a:off x="0" y="0"/>
            <a:ext cx="10515600" cy="1325563"/>
          </a:xfrm>
        </p:spPr>
        <p:txBody>
          <a:bodyPr/>
          <a:lstStyle/>
          <a:p>
            <a:r>
              <a:rPr lang="en-US" dirty="0"/>
              <a:t>Appendix</a:t>
            </a:r>
            <a:endParaRPr lang="en-IN" dirty="0"/>
          </a:p>
        </p:txBody>
      </p:sp>
      <p:pic>
        <p:nvPicPr>
          <p:cNvPr id="5" name="Content Placeholder 4">
            <a:extLst>
              <a:ext uri="{FF2B5EF4-FFF2-40B4-BE49-F238E27FC236}">
                <a16:creationId xmlns:a16="http://schemas.microsoft.com/office/drawing/2014/main" id="{97E88083-98D1-F740-5ECA-DE7B32FDD437}"/>
              </a:ext>
            </a:extLst>
          </p:cNvPr>
          <p:cNvPicPr>
            <a:picLocks noGrp="1" noChangeAspect="1"/>
          </p:cNvPicPr>
          <p:nvPr>
            <p:ph idx="1"/>
          </p:nvPr>
        </p:nvPicPr>
        <p:blipFill>
          <a:blip r:embed="rId2"/>
          <a:stretch>
            <a:fillRect/>
          </a:stretch>
        </p:blipFill>
        <p:spPr>
          <a:xfrm>
            <a:off x="2821607" y="0"/>
            <a:ext cx="9370393" cy="6858000"/>
          </a:xfrm>
          <a:prstGeom prst="rect">
            <a:avLst/>
          </a:prstGeom>
        </p:spPr>
      </p:pic>
      <p:pic>
        <p:nvPicPr>
          <p:cNvPr id="7" name="Picture 6">
            <a:extLst>
              <a:ext uri="{FF2B5EF4-FFF2-40B4-BE49-F238E27FC236}">
                <a16:creationId xmlns:a16="http://schemas.microsoft.com/office/drawing/2014/main" id="{C1745243-1748-488D-5C37-3222248AC8F9}"/>
              </a:ext>
            </a:extLst>
          </p:cNvPr>
          <p:cNvPicPr>
            <a:picLocks noChangeAspect="1"/>
          </p:cNvPicPr>
          <p:nvPr/>
        </p:nvPicPr>
        <p:blipFill>
          <a:blip r:embed="rId3"/>
          <a:stretch>
            <a:fillRect/>
          </a:stretch>
        </p:blipFill>
        <p:spPr>
          <a:xfrm>
            <a:off x="102742" y="2133398"/>
            <a:ext cx="3719245" cy="3124501"/>
          </a:xfrm>
          <a:prstGeom prst="rect">
            <a:avLst/>
          </a:prstGeom>
        </p:spPr>
      </p:pic>
    </p:spTree>
    <p:extLst>
      <p:ext uri="{BB962C8B-B14F-4D97-AF65-F5344CB8AC3E}">
        <p14:creationId xmlns:p14="http://schemas.microsoft.com/office/powerpoint/2010/main" val="3106213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82D41-F7C9-C250-F2D4-E9DE90557D6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5AB63CA-93E4-409F-9541-C504B7C7905B}"/>
              </a:ext>
            </a:extLst>
          </p:cNvPr>
          <p:cNvPicPr>
            <a:picLocks noGrp="1" noChangeAspect="1"/>
          </p:cNvPicPr>
          <p:nvPr>
            <p:ph idx="1"/>
          </p:nvPr>
        </p:nvPicPr>
        <p:blipFill>
          <a:blip r:embed="rId2"/>
          <a:stretch>
            <a:fillRect/>
          </a:stretch>
        </p:blipFill>
        <p:spPr>
          <a:xfrm>
            <a:off x="1030705" y="2162162"/>
            <a:ext cx="2267266" cy="790685"/>
          </a:xfrm>
          <a:prstGeom prst="rect">
            <a:avLst/>
          </a:prstGeom>
        </p:spPr>
      </p:pic>
      <p:pic>
        <p:nvPicPr>
          <p:cNvPr id="7" name="Picture 6">
            <a:extLst>
              <a:ext uri="{FF2B5EF4-FFF2-40B4-BE49-F238E27FC236}">
                <a16:creationId xmlns:a16="http://schemas.microsoft.com/office/drawing/2014/main" id="{852C964C-CA37-49AE-D0B9-3E1BFEE4599D}"/>
              </a:ext>
            </a:extLst>
          </p:cNvPr>
          <p:cNvPicPr>
            <a:picLocks noChangeAspect="1"/>
          </p:cNvPicPr>
          <p:nvPr/>
        </p:nvPicPr>
        <p:blipFill>
          <a:blip r:embed="rId3"/>
          <a:stretch>
            <a:fillRect/>
          </a:stretch>
        </p:blipFill>
        <p:spPr>
          <a:xfrm>
            <a:off x="4803896" y="2045391"/>
            <a:ext cx="2333951" cy="666843"/>
          </a:xfrm>
          <a:prstGeom prst="rect">
            <a:avLst/>
          </a:prstGeom>
        </p:spPr>
      </p:pic>
      <p:cxnSp>
        <p:nvCxnSpPr>
          <p:cNvPr id="9" name="Straight Arrow Connector 8">
            <a:extLst>
              <a:ext uri="{FF2B5EF4-FFF2-40B4-BE49-F238E27FC236}">
                <a16:creationId xmlns:a16="http://schemas.microsoft.com/office/drawing/2014/main" id="{F64A26A1-49FC-AE0C-65EB-759B7C66A2E8}"/>
              </a:ext>
            </a:extLst>
          </p:cNvPr>
          <p:cNvCxnSpPr/>
          <p:nvPr/>
        </p:nvCxnSpPr>
        <p:spPr>
          <a:xfrm flipH="1">
            <a:off x="3297971" y="2415941"/>
            <a:ext cx="12644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C9FF095-9587-C7FF-2DDB-1CE5D5671333}"/>
              </a:ext>
            </a:extLst>
          </p:cNvPr>
          <p:cNvPicPr>
            <a:picLocks noChangeAspect="1"/>
          </p:cNvPicPr>
          <p:nvPr/>
        </p:nvPicPr>
        <p:blipFill>
          <a:blip r:embed="rId4"/>
          <a:stretch>
            <a:fillRect/>
          </a:stretch>
        </p:blipFill>
        <p:spPr>
          <a:xfrm>
            <a:off x="1030705" y="3571732"/>
            <a:ext cx="2981741" cy="666843"/>
          </a:xfrm>
          <a:prstGeom prst="rect">
            <a:avLst/>
          </a:prstGeom>
        </p:spPr>
      </p:pic>
    </p:spTree>
    <p:extLst>
      <p:ext uri="{BB962C8B-B14F-4D97-AF65-F5344CB8AC3E}">
        <p14:creationId xmlns:p14="http://schemas.microsoft.com/office/powerpoint/2010/main" val="338051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120BC-F05E-024B-043D-109E3D16AF1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925AB87-09F4-AD37-D461-5AD897004BE8}"/>
              </a:ext>
            </a:extLst>
          </p:cNvPr>
          <p:cNvPicPr>
            <a:picLocks noGrp="1" noChangeAspect="1"/>
          </p:cNvPicPr>
          <p:nvPr>
            <p:ph idx="1"/>
          </p:nvPr>
        </p:nvPicPr>
        <p:blipFill>
          <a:blip r:embed="rId2"/>
          <a:stretch>
            <a:fillRect/>
          </a:stretch>
        </p:blipFill>
        <p:spPr>
          <a:xfrm>
            <a:off x="2452055" y="0"/>
            <a:ext cx="8104908" cy="6858000"/>
          </a:xfrm>
          <a:prstGeom prst="rect">
            <a:avLst/>
          </a:prstGeom>
        </p:spPr>
      </p:pic>
      <p:pic>
        <p:nvPicPr>
          <p:cNvPr id="4" name="Picture 3">
            <a:extLst>
              <a:ext uri="{FF2B5EF4-FFF2-40B4-BE49-F238E27FC236}">
                <a16:creationId xmlns:a16="http://schemas.microsoft.com/office/drawing/2014/main" id="{79A0C597-00D1-5AF6-289D-16FE9B9CD0CF}"/>
              </a:ext>
            </a:extLst>
          </p:cNvPr>
          <p:cNvPicPr>
            <a:picLocks noChangeAspect="1"/>
          </p:cNvPicPr>
          <p:nvPr/>
        </p:nvPicPr>
        <p:blipFill>
          <a:blip r:embed="rId3"/>
          <a:stretch>
            <a:fillRect/>
          </a:stretch>
        </p:blipFill>
        <p:spPr>
          <a:xfrm>
            <a:off x="142911" y="1014318"/>
            <a:ext cx="4343916" cy="1441206"/>
          </a:xfrm>
          <a:prstGeom prst="rect">
            <a:avLst/>
          </a:prstGeom>
        </p:spPr>
      </p:pic>
      <p:sp>
        <p:nvSpPr>
          <p:cNvPr id="6" name="TextBox 5">
            <a:extLst>
              <a:ext uri="{FF2B5EF4-FFF2-40B4-BE49-F238E27FC236}">
                <a16:creationId xmlns:a16="http://schemas.microsoft.com/office/drawing/2014/main" id="{C981D4CB-8739-F835-8CE9-38247525BB32}"/>
              </a:ext>
            </a:extLst>
          </p:cNvPr>
          <p:cNvSpPr txBox="1"/>
          <p:nvPr/>
        </p:nvSpPr>
        <p:spPr>
          <a:xfrm>
            <a:off x="719191" y="3000053"/>
            <a:ext cx="1458930" cy="1754326"/>
          </a:xfrm>
          <a:prstGeom prst="rect">
            <a:avLst/>
          </a:prstGeom>
          <a:noFill/>
        </p:spPr>
        <p:txBody>
          <a:bodyPr wrap="square" rtlCol="0">
            <a:spAutoFit/>
          </a:bodyPr>
          <a:lstStyle/>
          <a:p>
            <a:r>
              <a:rPr lang="en-US" dirty="0"/>
              <a:t>How the differential equation is solved in Virga and my work</a:t>
            </a:r>
            <a:endParaRPr lang="en-IN" dirty="0"/>
          </a:p>
        </p:txBody>
      </p:sp>
    </p:spTree>
    <p:extLst>
      <p:ext uri="{BB962C8B-B14F-4D97-AF65-F5344CB8AC3E}">
        <p14:creationId xmlns:p14="http://schemas.microsoft.com/office/powerpoint/2010/main" val="1206510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5BBAB-8C95-A701-AA50-DCDCA6561254}"/>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8262F501-B17C-F797-2769-A67CDF000E30}"/>
              </a:ext>
            </a:extLst>
          </p:cNvPr>
          <p:cNvSpPr>
            <a:spLocks noGrp="1" noChangeArrowheads="1"/>
          </p:cNvSpPr>
          <p:nvPr>
            <p:ph idx="1"/>
          </p:nvPr>
        </p:nvSpPr>
        <p:spPr bwMode="auto">
          <a:xfrm>
            <a:off x="838200" y="365125"/>
            <a:ext cx="981562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RK23 is an adaptive explicit Runge–</a:t>
            </a:r>
            <a:r>
              <a:rPr kumimoji="0" lang="en-US" altLang="en-US" sz="1800" b="0" i="0" u="none" strike="noStrike" cap="none" normalizeH="0" baseline="0" dirty="0" err="1">
                <a:ln>
                  <a:noFill/>
                </a:ln>
                <a:solidFill>
                  <a:schemeClr val="tx1"/>
                </a:solidFill>
                <a:effectLst/>
                <a:latin typeface="Arial" panose="020B0604020202020204" pitchFamily="34" charset="0"/>
              </a:rPr>
              <a:t>Kutta</a:t>
            </a:r>
            <a:r>
              <a:rPr kumimoji="0" lang="en-US" altLang="en-US" sz="1800" b="0" i="0" u="none" strike="noStrike" cap="none" normalizeH="0" baseline="0" dirty="0">
                <a:ln>
                  <a:noFill/>
                </a:ln>
                <a:solidFill>
                  <a:schemeClr val="tx1"/>
                </a:solidFill>
                <a:effectLst/>
                <a:latin typeface="Arial" panose="020B0604020202020204" pitchFamily="34" charset="0"/>
              </a:rPr>
              <a:t> 2(3) method (Bogacki–Shampine) used to solve non-stiff ordinary differential equations with embedded error control.</a:t>
            </a:r>
          </a:p>
          <a:p>
            <a:pPr marL="0" lvl="0" indent="0" eaLnBrk="0" fontAlgn="base" hangingPunct="0">
              <a:lnSpc>
                <a:spcPct val="100000"/>
              </a:lnSpc>
              <a:spcBef>
                <a:spcPct val="0"/>
              </a:spcBef>
              <a:spcAft>
                <a:spcPct val="0"/>
              </a:spcAft>
              <a:buNone/>
            </a:pPr>
            <a:r>
              <a:rPr lang="en-US" sz="1800" dirty="0">
                <a:latin typeface="Arial" panose="020B0604020202020204" pitchFamily="34" charset="0"/>
              </a:rPr>
              <a:t>The RK23 method, often implemented as the </a:t>
            </a:r>
            <a:r>
              <a:rPr lang="en-US" sz="1800" dirty="0">
                <a:latin typeface="Arial" panose="020B0604020202020204" pitchFamily="34" charset="0"/>
                <a:hlinkClick r:id="rId2">
                  <a:extLst>
                    <a:ext uri="{A12FA001-AC4F-418D-AE19-62706E023703}">
                      <ahyp:hlinkClr xmlns:ahyp="http://schemas.microsoft.com/office/drawing/2018/hyperlinkcolor" val="tx"/>
                    </a:ext>
                  </a:extLst>
                </a:hlinkClick>
              </a:rPr>
              <a:t>Bogacki-Shampine method</a:t>
            </a:r>
            <a:r>
              <a:rPr lang="en-US" sz="1800" dirty="0">
                <a:latin typeface="Arial" panose="020B0604020202020204" pitchFamily="34" charset="0"/>
              </a:rPr>
              <a:t>, is an explicit Runge-</a:t>
            </a:r>
            <a:r>
              <a:rPr lang="en-US" sz="1800" dirty="0" err="1">
                <a:latin typeface="Arial" panose="020B0604020202020204" pitchFamily="34" charset="0"/>
              </a:rPr>
              <a:t>Kutta</a:t>
            </a:r>
            <a:r>
              <a:rPr lang="en-US" sz="1800" dirty="0">
                <a:latin typeface="Arial" panose="020B0604020202020204" pitchFamily="34" charset="0"/>
              </a:rPr>
              <a:t> pair of order 3(2) used to solve ordinary differential equations (ODEs). It uses a 3rd-order formula to take steps while utilizing a 2nd-order formula for error estimation, making it ideal for adaptive step-size control. </a:t>
            </a:r>
            <a:br>
              <a:rPr lang="en-US" altLang="en-US" sz="1800" dirty="0">
                <a:latin typeface="Arial" panose="020B0604020202020204" pitchFamily="34" charset="0"/>
              </a:rPr>
            </a:br>
            <a:endParaRPr lang="en-US" altLang="en-US" sz="1800" dirty="0">
              <a:latin typeface="Arial" panose="020B0604020202020204" pitchFamily="34" charset="0"/>
            </a:endParaRPr>
          </a:p>
        </p:txBody>
      </p:sp>
      <p:pic>
        <p:nvPicPr>
          <p:cNvPr id="6" name="Picture 5">
            <a:extLst>
              <a:ext uri="{FF2B5EF4-FFF2-40B4-BE49-F238E27FC236}">
                <a16:creationId xmlns:a16="http://schemas.microsoft.com/office/drawing/2014/main" id="{33F017B0-EEDA-837A-F8D0-E81282D7554B}"/>
              </a:ext>
            </a:extLst>
          </p:cNvPr>
          <p:cNvPicPr>
            <a:picLocks noChangeAspect="1"/>
          </p:cNvPicPr>
          <p:nvPr/>
        </p:nvPicPr>
        <p:blipFill>
          <a:blip r:embed="rId3"/>
          <a:stretch>
            <a:fillRect/>
          </a:stretch>
        </p:blipFill>
        <p:spPr>
          <a:xfrm>
            <a:off x="4189889" y="1910993"/>
            <a:ext cx="7864103" cy="4906385"/>
          </a:xfrm>
          <a:prstGeom prst="rect">
            <a:avLst/>
          </a:prstGeom>
        </p:spPr>
      </p:pic>
    </p:spTree>
    <p:extLst>
      <p:ext uri="{BB962C8B-B14F-4D97-AF65-F5344CB8AC3E}">
        <p14:creationId xmlns:p14="http://schemas.microsoft.com/office/powerpoint/2010/main" val="3900211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BCB86-1F81-32A0-F23C-7513FC6080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005D03-60E1-CEF8-38E4-3DF92639C0A9}"/>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88600236-6A81-5EC6-7CF7-653A14760085}"/>
              </a:ext>
            </a:extLst>
          </p:cNvPr>
          <p:cNvPicPr>
            <a:picLocks noChangeAspect="1"/>
          </p:cNvPicPr>
          <p:nvPr/>
        </p:nvPicPr>
        <p:blipFill>
          <a:blip r:embed="rId3"/>
          <a:stretch>
            <a:fillRect/>
          </a:stretch>
        </p:blipFill>
        <p:spPr>
          <a:xfrm>
            <a:off x="838200" y="244065"/>
            <a:ext cx="5944009" cy="5314253"/>
          </a:xfrm>
          <a:prstGeom prst="rect">
            <a:avLst/>
          </a:prstGeom>
        </p:spPr>
      </p:pic>
      <p:pic>
        <p:nvPicPr>
          <p:cNvPr id="7" name="Picture 6">
            <a:extLst>
              <a:ext uri="{FF2B5EF4-FFF2-40B4-BE49-F238E27FC236}">
                <a16:creationId xmlns:a16="http://schemas.microsoft.com/office/drawing/2014/main" id="{D1DC3FC3-F8DF-7914-3714-C35F3387E527}"/>
              </a:ext>
            </a:extLst>
          </p:cNvPr>
          <p:cNvPicPr>
            <a:picLocks noChangeAspect="1"/>
          </p:cNvPicPr>
          <p:nvPr/>
        </p:nvPicPr>
        <p:blipFill>
          <a:blip r:embed="rId4"/>
          <a:stretch>
            <a:fillRect/>
          </a:stretch>
        </p:blipFill>
        <p:spPr>
          <a:xfrm>
            <a:off x="6545028" y="1384909"/>
            <a:ext cx="5944009" cy="3534778"/>
          </a:xfrm>
          <a:prstGeom prst="rect">
            <a:avLst/>
          </a:prstGeom>
        </p:spPr>
      </p:pic>
      <p:sp>
        <p:nvSpPr>
          <p:cNvPr id="8" name="TextBox 7">
            <a:extLst>
              <a:ext uri="{FF2B5EF4-FFF2-40B4-BE49-F238E27FC236}">
                <a16:creationId xmlns:a16="http://schemas.microsoft.com/office/drawing/2014/main" id="{67F9345C-DFB4-E595-4874-A8406F5D268D}"/>
              </a:ext>
            </a:extLst>
          </p:cNvPr>
          <p:cNvSpPr txBox="1"/>
          <p:nvPr/>
        </p:nvSpPr>
        <p:spPr>
          <a:xfrm>
            <a:off x="8741509" y="5112399"/>
            <a:ext cx="3179909" cy="369332"/>
          </a:xfrm>
          <a:prstGeom prst="rect">
            <a:avLst/>
          </a:prstGeom>
          <a:noFill/>
        </p:spPr>
        <p:txBody>
          <a:bodyPr wrap="none" rtlCol="0">
            <a:spAutoFit/>
          </a:bodyPr>
          <a:lstStyle/>
          <a:p>
            <a:r>
              <a:rPr lang="en-US" dirty="0"/>
              <a:t>Here we use find root algorithm</a:t>
            </a:r>
            <a:endParaRPr lang="en-IN" dirty="0"/>
          </a:p>
        </p:txBody>
      </p:sp>
      <p:cxnSp>
        <p:nvCxnSpPr>
          <p:cNvPr id="10" name="Straight Arrow Connector 9">
            <a:extLst>
              <a:ext uri="{FF2B5EF4-FFF2-40B4-BE49-F238E27FC236}">
                <a16:creationId xmlns:a16="http://schemas.microsoft.com/office/drawing/2014/main" id="{157F30B4-36AF-0B54-C1FB-8D9AE964DA87}"/>
              </a:ext>
            </a:extLst>
          </p:cNvPr>
          <p:cNvCxnSpPr/>
          <p:nvPr/>
        </p:nvCxnSpPr>
        <p:spPr>
          <a:xfrm flipV="1">
            <a:off x="9698804" y="4705564"/>
            <a:ext cx="0" cy="3390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D72568F-7E43-FDB9-95D8-A86C964CE006}"/>
              </a:ext>
            </a:extLst>
          </p:cNvPr>
          <p:cNvSpPr txBox="1"/>
          <p:nvPr/>
        </p:nvSpPr>
        <p:spPr>
          <a:xfrm>
            <a:off x="6782209" y="616449"/>
            <a:ext cx="4030527" cy="461665"/>
          </a:xfrm>
          <a:prstGeom prst="rect">
            <a:avLst/>
          </a:prstGeom>
          <a:noFill/>
        </p:spPr>
        <p:txBody>
          <a:bodyPr wrap="none" rtlCol="0">
            <a:spAutoFit/>
          </a:bodyPr>
          <a:lstStyle/>
          <a:p>
            <a:r>
              <a:rPr lang="en-US" sz="2400" dirty="0"/>
              <a:t>New Method of </a:t>
            </a:r>
            <a:r>
              <a:rPr lang="en-US" sz="2400" dirty="0" err="1"/>
              <a:t>v</a:t>
            </a:r>
            <a:r>
              <a:rPr lang="en-US" sz="2400" baseline="-25000" dirty="0" err="1"/>
              <a:t>fall</a:t>
            </a:r>
            <a:r>
              <a:rPr lang="en-US" sz="2400" dirty="0"/>
              <a:t> calculation</a:t>
            </a:r>
            <a:endParaRPr lang="en-IN" sz="2400" dirty="0"/>
          </a:p>
        </p:txBody>
      </p:sp>
      <p:sp>
        <p:nvSpPr>
          <p:cNvPr id="12" name="TextBox 11">
            <a:extLst>
              <a:ext uri="{FF2B5EF4-FFF2-40B4-BE49-F238E27FC236}">
                <a16:creationId xmlns:a16="http://schemas.microsoft.com/office/drawing/2014/main" id="{33FBBD5C-D34A-F1B6-7C77-9FF74C8E3127}"/>
              </a:ext>
            </a:extLst>
          </p:cNvPr>
          <p:cNvSpPr txBox="1"/>
          <p:nvPr/>
        </p:nvSpPr>
        <p:spPr>
          <a:xfrm>
            <a:off x="5761224" y="2260315"/>
            <a:ext cx="783804" cy="369332"/>
          </a:xfrm>
          <a:prstGeom prst="rect">
            <a:avLst/>
          </a:prstGeom>
          <a:noFill/>
        </p:spPr>
        <p:txBody>
          <a:bodyPr wrap="none" rtlCol="0">
            <a:spAutoFit/>
          </a:bodyPr>
          <a:lstStyle/>
          <a:p>
            <a:r>
              <a:rPr lang="en-US" dirty="0" err="1"/>
              <a:t>K</a:t>
            </a:r>
            <a:r>
              <a:rPr lang="en-US" baseline="-25000" dirty="0" err="1"/>
              <a:t>n</a:t>
            </a:r>
            <a:r>
              <a:rPr lang="en-US" dirty="0"/>
              <a:t> &gt;10</a:t>
            </a:r>
            <a:endParaRPr lang="en-IN" dirty="0"/>
          </a:p>
        </p:txBody>
      </p:sp>
      <p:sp>
        <p:nvSpPr>
          <p:cNvPr id="16" name="TextBox 15">
            <a:extLst>
              <a:ext uri="{FF2B5EF4-FFF2-40B4-BE49-F238E27FC236}">
                <a16:creationId xmlns:a16="http://schemas.microsoft.com/office/drawing/2014/main" id="{F8A36F33-E1D3-4F43-ED00-E0B1AAD14350}"/>
              </a:ext>
            </a:extLst>
          </p:cNvPr>
          <p:cNvSpPr txBox="1"/>
          <p:nvPr/>
        </p:nvSpPr>
        <p:spPr>
          <a:xfrm>
            <a:off x="10660688" y="4336232"/>
            <a:ext cx="1701433" cy="369332"/>
          </a:xfrm>
          <a:prstGeom prst="rect">
            <a:avLst/>
          </a:prstGeom>
          <a:noFill/>
        </p:spPr>
        <p:txBody>
          <a:bodyPr wrap="square">
            <a:spAutoFit/>
          </a:bodyPr>
          <a:lstStyle/>
          <a:p>
            <a:r>
              <a:rPr lang="en-US" dirty="0" err="1"/>
              <a:t>K</a:t>
            </a:r>
            <a:r>
              <a:rPr lang="en-US" baseline="-25000" dirty="0" err="1"/>
              <a:t>n</a:t>
            </a:r>
            <a:r>
              <a:rPr lang="en-US" dirty="0"/>
              <a:t> &lt;</a:t>
            </a:r>
            <a:r>
              <a:rPr lang="en-US" baseline="-25000" dirty="0"/>
              <a:t>=</a:t>
            </a:r>
            <a:r>
              <a:rPr lang="en-US" dirty="0"/>
              <a:t> 10</a:t>
            </a:r>
            <a:endParaRPr lang="en-IN" dirty="0"/>
          </a:p>
        </p:txBody>
      </p:sp>
    </p:spTree>
    <p:extLst>
      <p:ext uri="{BB962C8B-B14F-4D97-AF65-F5344CB8AC3E}">
        <p14:creationId xmlns:p14="http://schemas.microsoft.com/office/powerpoint/2010/main" val="2398473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B3149-F432-F0DC-C5EF-3A4A45FBAA1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CAC410A-4998-A450-F599-D0A906797567}"/>
              </a:ext>
            </a:extLst>
          </p:cNvPr>
          <p:cNvPicPr>
            <a:picLocks noGrp="1" noChangeAspect="1"/>
          </p:cNvPicPr>
          <p:nvPr>
            <p:ph idx="1"/>
          </p:nvPr>
        </p:nvPicPr>
        <p:blipFill>
          <a:blip r:embed="rId2"/>
          <a:stretch>
            <a:fillRect/>
          </a:stretch>
        </p:blipFill>
        <p:spPr>
          <a:xfrm>
            <a:off x="208531" y="879395"/>
            <a:ext cx="6680001" cy="4823324"/>
          </a:xfrm>
          <a:prstGeom prst="rect">
            <a:avLst/>
          </a:prstGeom>
        </p:spPr>
      </p:pic>
      <p:pic>
        <p:nvPicPr>
          <p:cNvPr id="7" name="Picture 6">
            <a:extLst>
              <a:ext uri="{FF2B5EF4-FFF2-40B4-BE49-F238E27FC236}">
                <a16:creationId xmlns:a16="http://schemas.microsoft.com/office/drawing/2014/main" id="{D6A8A971-0296-194B-6D5F-40BBD98EB9E9}"/>
              </a:ext>
            </a:extLst>
          </p:cNvPr>
          <p:cNvPicPr>
            <a:picLocks noChangeAspect="1"/>
          </p:cNvPicPr>
          <p:nvPr/>
        </p:nvPicPr>
        <p:blipFill>
          <a:blip r:embed="rId3"/>
          <a:srcRect l="14890"/>
          <a:stretch>
            <a:fillRect/>
          </a:stretch>
        </p:blipFill>
        <p:spPr>
          <a:xfrm>
            <a:off x="6888532" y="914877"/>
            <a:ext cx="5303468" cy="5028246"/>
          </a:xfrm>
          <a:prstGeom prst="rect">
            <a:avLst/>
          </a:prstGeom>
        </p:spPr>
      </p:pic>
      <p:sp>
        <p:nvSpPr>
          <p:cNvPr id="8" name="TextBox 7">
            <a:extLst>
              <a:ext uri="{FF2B5EF4-FFF2-40B4-BE49-F238E27FC236}">
                <a16:creationId xmlns:a16="http://schemas.microsoft.com/office/drawing/2014/main" id="{E2B0DECB-9089-99B0-9ACB-3BF79887B624}"/>
              </a:ext>
            </a:extLst>
          </p:cNvPr>
          <p:cNvSpPr txBox="1"/>
          <p:nvPr/>
        </p:nvSpPr>
        <p:spPr>
          <a:xfrm>
            <a:off x="5858995" y="365125"/>
            <a:ext cx="3080780" cy="461665"/>
          </a:xfrm>
          <a:prstGeom prst="rect">
            <a:avLst/>
          </a:prstGeom>
          <a:noFill/>
        </p:spPr>
        <p:txBody>
          <a:bodyPr wrap="none" rtlCol="0">
            <a:spAutoFit/>
          </a:bodyPr>
          <a:lstStyle/>
          <a:p>
            <a:r>
              <a:rPr lang="en-US" sz="2400" dirty="0"/>
              <a:t>Old Calculations for </a:t>
            </a:r>
            <a:r>
              <a:rPr lang="en-US" sz="2400" dirty="0" err="1"/>
              <a:t>v</a:t>
            </a:r>
            <a:r>
              <a:rPr lang="en-US" sz="2400" baseline="-25000" dirty="0" err="1"/>
              <a:t>fall</a:t>
            </a:r>
            <a:endParaRPr lang="en-IN" sz="2400" dirty="0"/>
          </a:p>
        </p:txBody>
      </p:sp>
    </p:spTree>
    <p:extLst>
      <p:ext uri="{BB962C8B-B14F-4D97-AF65-F5344CB8AC3E}">
        <p14:creationId xmlns:p14="http://schemas.microsoft.com/office/powerpoint/2010/main" val="167920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21EAC-BDC6-7779-F2FA-899AAFA0270D}"/>
              </a:ext>
            </a:extLst>
          </p:cNvPr>
          <p:cNvSpPr>
            <a:spLocks noGrp="1"/>
          </p:cNvSpPr>
          <p:nvPr>
            <p:ph type="title"/>
          </p:nvPr>
        </p:nvSpPr>
        <p:spPr/>
        <p:txBody>
          <a:bodyPr/>
          <a:lstStyle/>
          <a:p>
            <a:endParaRPr lang="en-IN"/>
          </a:p>
        </p:txBody>
      </p:sp>
      <p:pic>
        <p:nvPicPr>
          <p:cNvPr id="1026" name="Picture 2">
            <a:extLst>
              <a:ext uri="{FF2B5EF4-FFF2-40B4-BE49-F238E27FC236}">
                <a16:creationId xmlns:a16="http://schemas.microsoft.com/office/drawing/2014/main" id="{95F0D0D0-7860-1318-691E-067EADA157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57979" y="365124"/>
            <a:ext cx="4242848" cy="63279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8636F06-1803-D72D-036A-8522A9F34B71}"/>
              </a:ext>
            </a:extLst>
          </p:cNvPr>
          <p:cNvSpPr txBox="1"/>
          <p:nvPr/>
        </p:nvSpPr>
        <p:spPr>
          <a:xfrm>
            <a:off x="8928243" y="6051479"/>
            <a:ext cx="1951240" cy="369332"/>
          </a:xfrm>
          <a:prstGeom prst="rect">
            <a:avLst/>
          </a:prstGeom>
          <a:noFill/>
        </p:spPr>
        <p:txBody>
          <a:bodyPr wrap="none" rtlCol="0">
            <a:spAutoFit/>
          </a:bodyPr>
          <a:lstStyle/>
          <a:p>
            <a:r>
              <a:rPr lang="en-US" dirty="0"/>
              <a:t>Grant. Et. Al - 2023</a:t>
            </a:r>
            <a:endParaRPr lang="en-IN" dirty="0"/>
          </a:p>
        </p:txBody>
      </p:sp>
    </p:spTree>
    <p:extLst>
      <p:ext uri="{BB962C8B-B14F-4D97-AF65-F5344CB8AC3E}">
        <p14:creationId xmlns:p14="http://schemas.microsoft.com/office/powerpoint/2010/main" val="3617877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7DE4F-12FA-9B3C-0771-8EFDE068AF8B}"/>
              </a:ext>
            </a:extLst>
          </p:cNvPr>
          <p:cNvSpPr>
            <a:spLocks noGrp="1"/>
          </p:cNvSpPr>
          <p:nvPr>
            <p:ph type="title"/>
          </p:nvPr>
        </p:nvSpPr>
        <p:spPr/>
        <p:txBody>
          <a:bodyPr/>
          <a:lstStyle/>
          <a:p>
            <a:endParaRPr lang="en-IN"/>
          </a:p>
        </p:txBody>
      </p:sp>
      <p:pic>
        <p:nvPicPr>
          <p:cNvPr id="2050" name="Picture 2">
            <a:extLst>
              <a:ext uri="{FF2B5EF4-FFF2-40B4-BE49-F238E27FC236}">
                <a16:creationId xmlns:a16="http://schemas.microsoft.com/office/drawing/2014/main" id="{CD433E30-14DA-9E11-039E-C4032E0095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563" y="274227"/>
            <a:ext cx="6137732" cy="435133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66EBC7E-6CA5-B541-76BA-9ACD6DB82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5387" y="2425700"/>
            <a:ext cx="5734050" cy="406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585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8EA0-8ECB-6676-FDA9-0116345BC48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033C1C7-5EF6-5001-EFEA-5E0392F59400}"/>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D34B1845-1B30-A34A-ACF2-89C007744E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136" y="0"/>
            <a:ext cx="8878859" cy="6681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546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7BD2-C480-15A5-E133-9A429D158738}"/>
              </a:ext>
            </a:extLst>
          </p:cNvPr>
          <p:cNvSpPr>
            <a:spLocks noGrp="1"/>
          </p:cNvSpPr>
          <p:nvPr>
            <p:ph type="title"/>
          </p:nvPr>
        </p:nvSpPr>
        <p:spPr/>
        <p:txBody>
          <a:bodyPr/>
          <a:lstStyle/>
          <a:p>
            <a:endParaRPr lang="en-IN"/>
          </a:p>
        </p:txBody>
      </p:sp>
      <p:pic>
        <p:nvPicPr>
          <p:cNvPr id="4098" name="Picture 2">
            <a:extLst>
              <a:ext uri="{FF2B5EF4-FFF2-40B4-BE49-F238E27FC236}">
                <a16:creationId xmlns:a16="http://schemas.microsoft.com/office/drawing/2014/main" id="{C191566D-4244-70D8-2599-099825802A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53263" y="0"/>
            <a:ext cx="9175522" cy="696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6696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4C2B3-D7B5-E25A-9D4F-F489537E3F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4A4956-8195-D120-078E-7F605822A64A}"/>
              </a:ext>
            </a:extLst>
          </p:cNvPr>
          <p:cNvSpPr>
            <a:spLocks noGrp="1"/>
          </p:cNvSpPr>
          <p:nvPr>
            <p:ph idx="1"/>
          </p:nvPr>
        </p:nvSpPr>
        <p:spPr/>
        <p:txBody>
          <a:bodyPr/>
          <a:lstStyle/>
          <a:p>
            <a:endParaRPr lang="en-IN"/>
          </a:p>
        </p:txBody>
      </p:sp>
      <p:pic>
        <p:nvPicPr>
          <p:cNvPr id="5122" name="Picture 2">
            <a:extLst>
              <a:ext uri="{FF2B5EF4-FFF2-40B4-BE49-F238E27FC236}">
                <a16:creationId xmlns:a16="http://schemas.microsoft.com/office/drawing/2014/main" id="{AD77EBD5-E501-BAC9-38B8-6636B30B5A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794" y="0"/>
            <a:ext cx="8868934" cy="6739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649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38A53-4844-F4C5-B430-3233D18170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602071-0DBC-6E2F-8471-F0A2744CE1EA}"/>
              </a:ext>
            </a:extLst>
          </p:cNvPr>
          <p:cNvSpPr>
            <a:spLocks noGrp="1"/>
          </p:cNvSpPr>
          <p:nvPr>
            <p:ph idx="1"/>
          </p:nvPr>
        </p:nvSpPr>
        <p:spPr/>
        <p:txBody>
          <a:bodyPr/>
          <a:lstStyle/>
          <a:p>
            <a:endParaRPr lang="en-IN"/>
          </a:p>
        </p:txBody>
      </p:sp>
      <p:pic>
        <p:nvPicPr>
          <p:cNvPr id="6146" name="Picture 2">
            <a:extLst>
              <a:ext uri="{FF2B5EF4-FFF2-40B4-BE49-F238E27FC236}">
                <a16:creationId xmlns:a16="http://schemas.microsoft.com/office/drawing/2014/main" id="{BB9FF376-C82B-3466-B660-BD4C5FC38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9118" y="-1"/>
            <a:ext cx="8857091" cy="670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818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C07DF-9458-1EA2-0B38-548A948DD8D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E51024E-EF40-3397-9E00-BAC6CE0B03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9712" y="90678"/>
            <a:ext cx="7257837" cy="6676644"/>
          </a:xfrm>
        </p:spPr>
      </p:pic>
      <p:sp>
        <p:nvSpPr>
          <p:cNvPr id="6" name="TextBox 5">
            <a:extLst>
              <a:ext uri="{FF2B5EF4-FFF2-40B4-BE49-F238E27FC236}">
                <a16:creationId xmlns:a16="http://schemas.microsoft.com/office/drawing/2014/main" id="{0B0CFFE0-27C1-D53F-C057-5A20BED3C70F}"/>
              </a:ext>
            </a:extLst>
          </p:cNvPr>
          <p:cNvSpPr txBox="1"/>
          <p:nvPr/>
        </p:nvSpPr>
        <p:spPr>
          <a:xfrm>
            <a:off x="9246742" y="6488668"/>
            <a:ext cx="2418804" cy="369332"/>
          </a:xfrm>
          <a:prstGeom prst="rect">
            <a:avLst/>
          </a:prstGeom>
          <a:noFill/>
        </p:spPr>
        <p:txBody>
          <a:bodyPr wrap="none" rtlCol="0">
            <a:spAutoFit/>
          </a:bodyPr>
          <a:lstStyle/>
          <a:p>
            <a:r>
              <a:rPr lang="en-US" dirty="0"/>
              <a:t>Image source - ChatGPT</a:t>
            </a:r>
            <a:endParaRPr lang="en-IN" dirty="0"/>
          </a:p>
        </p:txBody>
      </p:sp>
    </p:spTree>
    <p:extLst>
      <p:ext uri="{BB962C8B-B14F-4D97-AF65-F5344CB8AC3E}">
        <p14:creationId xmlns:p14="http://schemas.microsoft.com/office/powerpoint/2010/main" val="37002082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C3C3-970E-4FEC-D186-D5F6466C3BBF}"/>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D015A48C-696F-D700-7C3B-05F3444D47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9362" y="189580"/>
            <a:ext cx="6493267" cy="6668419"/>
          </a:xfrm>
          <a:prstGeom prst="rect">
            <a:avLst/>
          </a:prstGeom>
        </p:spPr>
      </p:pic>
      <p:sp>
        <p:nvSpPr>
          <p:cNvPr id="5" name="TextBox 4">
            <a:extLst>
              <a:ext uri="{FF2B5EF4-FFF2-40B4-BE49-F238E27FC236}">
                <a16:creationId xmlns:a16="http://schemas.microsoft.com/office/drawing/2014/main" id="{F1F7F5FD-0001-0473-E713-13B20C078CA4}"/>
              </a:ext>
            </a:extLst>
          </p:cNvPr>
          <p:cNvSpPr txBox="1"/>
          <p:nvPr/>
        </p:nvSpPr>
        <p:spPr>
          <a:xfrm>
            <a:off x="9092629" y="5928189"/>
            <a:ext cx="2702104" cy="369332"/>
          </a:xfrm>
          <a:prstGeom prst="rect">
            <a:avLst/>
          </a:prstGeom>
          <a:noFill/>
        </p:spPr>
        <p:txBody>
          <a:bodyPr wrap="square">
            <a:spAutoFit/>
          </a:bodyPr>
          <a:lstStyle/>
          <a:p>
            <a:r>
              <a:rPr lang="en-US" dirty="0"/>
              <a:t>Image source - ChatGPT</a:t>
            </a:r>
            <a:endParaRPr lang="en-IN" dirty="0"/>
          </a:p>
        </p:txBody>
      </p:sp>
    </p:spTree>
    <p:extLst>
      <p:ext uri="{BB962C8B-B14F-4D97-AF65-F5344CB8AC3E}">
        <p14:creationId xmlns:p14="http://schemas.microsoft.com/office/powerpoint/2010/main" val="3279603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3BC87-91BF-6E3E-8FEC-93BD06E1B706}"/>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2E7D6E1A-BF1A-3AB8-763F-BF47D7F2CD5F}"/>
              </a:ext>
            </a:extLst>
          </p:cNvPr>
          <p:cNvPicPr>
            <a:picLocks noGrp="1" noChangeAspect="1"/>
          </p:cNvPicPr>
          <p:nvPr>
            <p:ph idx="1"/>
          </p:nvPr>
        </p:nvPicPr>
        <p:blipFill>
          <a:blip r:embed="rId2"/>
          <a:stretch>
            <a:fillRect/>
          </a:stretch>
        </p:blipFill>
        <p:spPr>
          <a:xfrm>
            <a:off x="968456" y="1690688"/>
            <a:ext cx="7240596" cy="1896346"/>
          </a:xfrm>
          <a:prstGeom prst="rect">
            <a:avLst/>
          </a:prstGeom>
        </p:spPr>
      </p:pic>
      <p:pic>
        <p:nvPicPr>
          <p:cNvPr id="9" name="Picture 8">
            <a:extLst>
              <a:ext uri="{FF2B5EF4-FFF2-40B4-BE49-F238E27FC236}">
                <a16:creationId xmlns:a16="http://schemas.microsoft.com/office/drawing/2014/main" id="{9870669B-A9B3-CF43-04BB-0576E6268FDD}"/>
              </a:ext>
            </a:extLst>
          </p:cNvPr>
          <p:cNvPicPr>
            <a:picLocks noChangeAspect="1"/>
          </p:cNvPicPr>
          <p:nvPr/>
        </p:nvPicPr>
        <p:blipFill>
          <a:blip r:embed="rId3"/>
          <a:stretch>
            <a:fillRect/>
          </a:stretch>
        </p:blipFill>
        <p:spPr>
          <a:xfrm>
            <a:off x="968456" y="3704031"/>
            <a:ext cx="6932348" cy="2059771"/>
          </a:xfrm>
          <a:prstGeom prst="rect">
            <a:avLst/>
          </a:prstGeom>
        </p:spPr>
      </p:pic>
      <p:sp>
        <p:nvSpPr>
          <p:cNvPr id="11" name="TextBox 10">
            <a:extLst>
              <a:ext uri="{FF2B5EF4-FFF2-40B4-BE49-F238E27FC236}">
                <a16:creationId xmlns:a16="http://schemas.microsoft.com/office/drawing/2014/main" id="{44B0C194-CF8B-1926-656A-113884C29056}"/>
              </a:ext>
            </a:extLst>
          </p:cNvPr>
          <p:cNvSpPr txBox="1"/>
          <p:nvPr/>
        </p:nvSpPr>
        <p:spPr>
          <a:xfrm>
            <a:off x="6675633" y="5292546"/>
            <a:ext cx="6097712" cy="1200329"/>
          </a:xfrm>
          <a:prstGeom prst="rect">
            <a:avLst/>
          </a:prstGeom>
          <a:noFill/>
        </p:spPr>
        <p:txBody>
          <a:bodyPr wrap="square">
            <a:spAutoFit/>
          </a:bodyPr>
          <a:lstStyle/>
          <a:p>
            <a:r>
              <a:rPr lang="en-IN" dirty="0"/>
              <a:t>Retrieval models are inverse atmospheric models that fit observed spectra with synthetic spectra in order to infer atmospheric properties such as temperature structure, chemical abundances, and cloud parameters.</a:t>
            </a:r>
          </a:p>
        </p:txBody>
      </p:sp>
      <p:sp>
        <p:nvSpPr>
          <p:cNvPr id="13" name="TextBox 12">
            <a:extLst>
              <a:ext uri="{FF2B5EF4-FFF2-40B4-BE49-F238E27FC236}">
                <a16:creationId xmlns:a16="http://schemas.microsoft.com/office/drawing/2014/main" id="{85ECFC63-BB98-4CC1-8DBC-6B361D41ECC9}"/>
              </a:ext>
            </a:extLst>
          </p:cNvPr>
          <p:cNvSpPr txBox="1"/>
          <p:nvPr/>
        </p:nvSpPr>
        <p:spPr>
          <a:xfrm>
            <a:off x="7900804" y="3214990"/>
            <a:ext cx="4163602" cy="1200329"/>
          </a:xfrm>
          <a:prstGeom prst="rect">
            <a:avLst/>
          </a:prstGeom>
          <a:noFill/>
        </p:spPr>
        <p:txBody>
          <a:bodyPr wrap="square">
            <a:spAutoFit/>
          </a:bodyPr>
          <a:lstStyle/>
          <a:p>
            <a:r>
              <a:rPr lang="en-US" dirty="0"/>
              <a:t>F type stars are yellow-white main-sequence stars, hotter and more massive than our Sun, with surface temperatures ranging from 6,000 to 7,400 K</a:t>
            </a:r>
            <a:r>
              <a:rPr lang="en-US" b="0" i="0" dirty="0">
                <a:solidFill>
                  <a:srgbClr val="E6E8F0"/>
                </a:solidFill>
                <a:effectLst/>
                <a:latin typeface="Google Sans"/>
              </a:rPr>
              <a:t>. </a:t>
            </a:r>
            <a:endParaRPr lang="en-IN" dirty="0"/>
          </a:p>
        </p:txBody>
      </p:sp>
    </p:spTree>
    <p:extLst>
      <p:ext uri="{BB962C8B-B14F-4D97-AF65-F5344CB8AC3E}">
        <p14:creationId xmlns:p14="http://schemas.microsoft.com/office/powerpoint/2010/main" val="622437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ED43-9EB2-8CB6-DA22-85ABBD5871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494B88-3ADE-17C9-4B17-B99F31075E06}"/>
              </a:ext>
            </a:extLst>
          </p:cNvPr>
          <p:cNvSpPr>
            <a:spLocks noGrp="1"/>
          </p:cNvSpPr>
          <p:nvPr>
            <p:ph idx="1"/>
          </p:nvPr>
        </p:nvSpPr>
        <p:spPr/>
        <p:txBody>
          <a:bodyPr/>
          <a:lstStyle/>
          <a:p>
            <a:endParaRPr lang="en-IN"/>
          </a:p>
        </p:txBody>
      </p:sp>
      <p:pic>
        <p:nvPicPr>
          <p:cNvPr id="4" name="Picture 2">
            <a:extLst>
              <a:ext uri="{FF2B5EF4-FFF2-40B4-BE49-F238E27FC236}">
                <a16:creationId xmlns:a16="http://schemas.microsoft.com/office/drawing/2014/main" id="{D8995729-789F-107B-C10E-5513DE1A0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337" y="0"/>
            <a:ext cx="11005794" cy="6760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96149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ACE25-FE41-4421-12B3-FC23265C46CD}"/>
              </a:ext>
            </a:extLst>
          </p:cNvPr>
          <p:cNvSpPr>
            <a:spLocks noGrp="1"/>
          </p:cNvSpPr>
          <p:nvPr>
            <p:ph type="title"/>
          </p:nvPr>
        </p:nvSpPr>
        <p:spPr>
          <a:xfrm>
            <a:off x="0" y="-441789"/>
            <a:ext cx="11353800" cy="1952091"/>
          </a:xfrm>
        </p:spPr>
        <p:txBody>
          <a:bodyPr/>
          <a:lstStyle/>
          <a:p>
            <a:r>
              <a:rPr lang="en-US" b="1" dirty="0">
                <a:solidFill>
                  <a:schemeClr val="accent1"/>
                </a:solidFill>
              </a:rPr>
              <a:t>Clouds shape atmosphere of the planet</a:t>
            </a:r>
            <a:endParaRPr lang="en-IN" b="1" dirty="0">
              <a:solidFill>
                <a:schemeClr val="accent1"/>
              </a:solidFill>
            </a:endParaRPr>
          </a:p>
        </p:txBody>
      </p:sp>
      <p:pic>
        <p:nvPicPr>
          <p:cNvPr id="5" name="Content Placeholder 4">
            <a:extLst>
              <a:ext uri="{FF2B5EF4-FFF2-40B4-BE49-F238E27FC236}">
                <a16:creationId xmlns:a16="http://schemas.microsoft.com/office/drawing/2014/main" id="{A771BFA1-7C77-F3D1-9D70-B9BE73E5382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73278"/>
          <a:stretch>
            <a:fillRect/>
          </a:stretch>
        </p:blipFill>
        <p:spPr>
          <a:xfrm>
            <a:off x="130233" y="1017142"/>
            <a:ext cx="4032565" cy="5446879"/>
          </a:xfrm>
        </p:spPr>
      </p:pic>
      <p:sp>
        <p:nvSpPr>
          <p:cNvPr id="6" name="TextBox 5">
            <a:extLst>
              <a:ext uri="{FF2B5EF4-FFF2-40B4-BE49-F238E27FC236}">
                <a16:creationId xmlns:a16="http://schemas.microsoft.com/office/drawing/2014/main" id="{71BEAADB-04A5-4D9A-8B79-27553CFEE4A5}"/>
              </a:ext>
            </a:extLst>
          </p:cNvPr>
          <p:cNvSpPr txBox="1"/>
          <p:nvPr/>
        </p:nvSpPr>
        <p:spPr>
          <a:xfrm>
            <a:off x="0" y="6416491"/>
            <a:ext cx="6596008" cy="369332"/>
          </a:xfrm>
          <a:prstGeom prst="rect">
            <a:avLst/>
          </a:prstGeom>
          <a:noFill/>
        </p:spPr>
        <p:txBody>
          <a:bodyPr wrap="square" rtlCol="0">
            <a:spAutoFit/>
          </a:bodyPr>
          <a:lstStyle/>
          <a:p>
            <a:r>
              <a:rPr lang="en-IN" dirty="0"/>
              <a:t>Infographic: NASA/JPL-Caltech/Lizbeth B. De La Torre</a:t>
            </a:r>
          </a:p>
        </p:txBody>
      </p:sp>
      <p:pic>
        <p:nvPicPr>
          <p:cNvPr id="1026" name="Picture 2" descr="A view of Jupiter's Great Red Spot and colorful cloud bands of tan, brown, white, and orange as seen from the Juno spacecraft.">
            <a:extLst>
              <a:ext uri="{FF2B5EF4-FFF2-40B4-BE49-F238E27FC236}">
                <a16:creationId xmlns:a16="http://schemas.microsoft.com/office/drawing/2014/main" id="{E6E2A91B-70C6-440C-0EEF-CB15EAE1FF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489" t="94" r="18785" b="1974"/>
          <a:stretch>
            <a:fillRect/>
          </a:stretch>
        </p:blipFill>
        <p:spPr bwMode="auto">
          <a:xfrm>
            <a:off x="5887167" y="907977"/>
            <a:ext cx="5466633" cy="50420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F1A3032-05E5-3F4C-D0A6-66E72A72522F}"/>
              </a:ext>
            </a:extLst>
          </p:cNvPr>
          <p:cNvSpPr txBox="1"/>
          <p:nvPr/>
        </p:nvSpPr>
        <p:spPr>
          <a:xfrm>
            <a:off x="6096000" y="6231825"/>
            <a:ext cx="6221002" cy="369332"/>
          </a:xfrm>
          <a:prstGeom prst="rect">
            <a:avLst/>
          </a:prstGeom>
          <a:noFill/>
        </p:spPr>
        <p:txBody>
          <a:bodyPr wrap="square">
            <a:spAutoFit/>
          </a:bodyPr>
          <a:lstStyle/>
          <a:p>
            <a:r>
              <a:rPr lang="en-US" b="0" i="0" dirty="0">
                <a:solidFill>
                  <a:srgbClr val="000000"/>
                </a:solidFill>
                <a:effectLst/>
                <a:latin typeface="Public Sans Web"/>
              </a:rPr>
              <a:t> images provided courtesy of NASA/JPL-Caltech/SwRI/MSSS</a:t>
            </a:r>
            <a:endParaRPr lang="en-IN" dirty="0"/>
          </a:p>
        </p:txBody>
      </p:sp>
    </p:spTree>
    <p:extLst>
      <p:ext uri="{BB962C8B-B14F-4D97-AF65-F5344CB8AC3E}">
        <p14:creationId xmlns:p14="http://schemas.microsoft.com/office/powerpoint/2010/main" val="16387502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FFE5-8EB0-6983-B954-508FB9774E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E59AD88-336C-8997-8CF6-C19925B1C92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E755D4C-0AFB-F2B4-CC0D-532E8612CE07}"/>
              </a:ext>
            </a:extLst>
          </p:cNvPr>
          <p:cNvPicPr>
            <a:picLocks noChangeAspect="1"/>
          </p:cNvPicPr>
          <p:nvPr/>
        </p:nvPicPr>
        <p:blipFill>
          <a:blip r:embed="rId2"/>
          <a:stretch>
            <a:fillRect/>
          </a:stretch>
        </p:blipFill>
        <p:spPr>
          <a:xfrm>
            <a:off x="228144" y="167271"/>
            <a:ext cx="11735711" cy="6009692"/>
          </a:xfrm>
          <a:prstGeom prst="rect">
            <a:avLst/>
          </a:prstGeom>
        </p:spPr>
      </p:pic>
    </p:spTree>
    <p:extLst>
      <p:ext uri="{BB962C8B-B14F-4D97-AF65-F5344CB8AC3E}">
        <p14:creationId xmlns:p14="http://schemas.microsoft.com/office/powerpoint/2010/main" val="4227459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1248</TotalTime>
  <Words>2938</Words>
  <Application>Microsoft Office PowerPoint</Application>
  <PresentationFormat>Widescreen</PresentationFormat>
  <Paragraphs>239</Paragraphs>
  <Slides>46</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Calibri</vt:lpstr>
      <vt:lpstr>Calibri Light</vt:lpstr>
      <vt:lpstr>Cambria Math</vt:lpstr>
      <vt:lpstr>Google Sans</vt:lpstr>
      <vt:lpstr>MS Reference Sans Serif</vt:lpstr>
      <vt:lpstr>Open Sans</vt:lpstr>
      <vt:lpstr>Public Sans Web</vt:lpstr>
      <vt:lpstr>Wingdings</vt:lpstr>
      <vt:lpstr>Office Theme</vt:lpstr>
      <vt:lpstr>     SOUMI MANDAL School of Physical Sciences School of Earth and Planetary Sciences</vt:lpstr>
      <vt:lpstr>Overview</vt:lpstr>
      <vt:lpstr>Why are clouds important for study? </vt:lpstr>
      <vt:lpstr>Ackerman and Marley Cloud model</vt:lpstr>
      <vt:lpstr>PowerPoint Presentation</vt:lpstr>
      <vt:lpstr>Improvements over previous modelling formulation – (main points)</vt:lpstr>
      <vt:lpstr>Why NH3 is found in Jupiter ?</vt:lpstr>
      <vt:lpstr>Recap of previous semester main result</vt:lpstr>
      <vt:lpstr>Improvement of this semester’s result</vt:lpstr>
      <vt:lpstr>Plot of Pressure vs Column Density</vt:lpstr>
      <vt:lpstr>Plot of Pressure vs Effective Droplet Radius</vt:lpstr>
      <vt:lpstr>Why the different at higher sedimentation efficiency values :</vt:lpstr>
      <vt:lpstr>Key findings by varying Sedimentation Efficiency Parameter</vt:lpstr>
      <vt:lpstr>WASP -17b (A hot Jupiter case study)</vt:lpstr>
      <vt:lpstr>A study of condensate mass mixing ratio across various metallicities</vt:lpstr>
      <vt:lpstr>Variation of droplet radius across various metallicities</vt:lpstr>
      <vt:lpstr>Variation of Column Density across various metallicities</vt:lpstr>
      <vt:lpstr>Key findings by varying Metallicity</vt:lpstr>
      <vt:lpstr>Molecular weight and formation of clouds</vt:lpstr>
      <vt:lpstr>Variation of Eddy Diffusion Parameter and its role in cloud formation</vt:lpstr>
      <vt:lpstr>Eddy Diffusion parameter and condensate mass mixing ratio</vt:lpstr>
      <vt:lpstr>Eddy Diffusion parameter and droplet radius</vt:lpstr>
      <vt:lpstr>Eddy Diffusion parameter and Column Density</vt:lpstr>
      <vt:lpstr>Key findings by varying eddy diffusion parameter</vt:lpstr>
      <vt:lpstr>Summary of results :</vt:lpstr>
      <vt:lpstr>Scope of future work</vt:lpstr>
      <vt:lpstr>Thank You  </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Clouds shape atmosphere of the planet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 Mandal</dc:creator>
  <cp:lastModifiedBy>Soumi Mandal</cp:lastModifiedBy>
  <cp:revision>28</cp:revision>
  <dcterms:created xsi:type="dcterms:W3CDTF">2026-04-27T13:39:13Z</dcterms:created>
  <dcterms:modified xsi:type="dcterms:W3CDTF">2026-05-16T07:47:08Z</dcterms:modified>
</cp:coreProperties>
</file>